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32"/>
    <p:restoredTop sz="94698"/>
  </p:normalViewPr>
  <p:slideViewPr>
    <p:cSldViewPr snapToGrid="0" snapToObjects="1">
      <p:cViewPr varScale="1">
        <p:scale>
          <a:sx n="123" d="100"/>
          <a:sy n="123" d="100"/>
        </p:scale>
        <p:origin x="1248"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dirty="0"/>
              <a:t>Milestone 3: </a:t>
            </a:r>
            <a:r>
              <a:rPr lang="en-IN" dirty="0"/>
              <a:t>Complete Simulation Pipeline(Baseline)</a:t>
            </a:r>
            <a:br>
              <a:rPr lang="en-IN" dirty="0"/>
            </a:br>
            <a:endParaRPr dirty="0"/>
          </a:p>
        </p:txBody>
      </p:sp>
      <p:sp>
        <p:nvSpPr>
          <p:cNvPr id="3" name="Subtitle 2"/>
          <p:cNvSpPr>
            <a:spLocks noGrp="1"/>
          </p:cNvSpPr>
          <p:nvPr>
            <p:ph type="subTitle" idx="1"/>
          </p:nvPr>
        </p:nvSpPr>
        <p:spPr>
          <a:xfrm>
            <a:off x="987137" y="3917373"/>
            <a:ext cx="7325591" cy="2192482"/>
          </a:xfrm>
        </p:spPr>
        <p:txBody>
          <a:bodyPr>
            <a:normAutofit fontScale="77500" lnSpcReduction="20000"/>
          </a:bodyPr>
          <a:lstStyle/>
          <a:p>
            <a:r>
              <a:rPr dirty="0"/>
              <a:t>Probabilistic Modelling</a:t>
            </a:r>
            <a:r>
              <a:rPr lang="en-US" dirty="0"/>
              <a:t> and performance analysis </a:t>
            </a:r>
            <a:r>
              <a:rPr dirty="0"/>
              <a:t> of Packet Delay</a:t>
            </a:r>
            <a:r>
              <a:rPr lang="en-US" dirty="0"/>
              <a:t> in a single router network.</a:t>
            </a:r>
            <a:endParaRPr dirty="0"/>
          </a:p>
          <a:p>
            <a:r>
              <a:rPr dirty="0"/>
              <a:t>Group 3</a:t>
            </a:r>
            <a:endParaRPr lang="en-US" dirty="0"/>
          </a:p>
          <a:p>
            <a:endParaRPr lang="en-US" dirty="0"/>
          </a:p>
          <a:p>
            <a:r>
              <a:rPr lang="en-IN" dirty="0"/>
              <a:t>M3 Video by Abbas Kharodawala and Khushi </a:t>
            </a:r>
            <a:r>
              <a:rPr lang="en-IN" dirty="0" err="1"/>
              <a:t>Paghadar</a:t>
            </a:r>
            <a:endParaRPr lang="en-IN" dirty="0"/>
          </a:p>
          <a:p>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a:solidFill>
                  <a:srgbClr val="003366"/>
                </a:solidFill>
              </a:defRPr>
            </a:pPr>
            <a:r>
              <a:t>2. Project Objective and Deterministic Baseline</a:t>
            </a:r>
          </a:p>
        </p:txBody>
      </p:sp>
      <p:sp>
        <p:nvSpPr>
          <p:cNvPr id="3" name="Content Placeholder 2"/>
          <p:cNvSpPr>
            <a:spLocks noGrp="1"/>
          </p:cNvSpPr>
          <p:nvPr>
            <p:ph idx="1"/>
          </p:nvPr>
        </p:nvSpPr>
        <p:spPr/>
        <p:txBody>
          <a:bodyPr/>
          <a:lstStyle/>
          <a:p>
            <a:endParaRPr dirty="0"/>
          </a:p>
          <a:p>
            <a:pPr>
              <a:defRPr sz="2000"/>
            </a:pPr>
            <a:r>
              <a:rPr dirty="0"/>
              <a:t>Our Goal: To build a working Python simulation of a single router to see how random traffic causes delays.</a:t>
            </a:r>
          </a:p>
          <a:p>
            <a:pPr>
              <a:defRPr sz="2000"/>
            </a:pPr>
            <a:r>
              <a:rPr dirty="0"/>
              <a:t>The Baseline Strategy: We are using First-Come, First-Served (FCFS).</a:t>
            </a:r>
          </a:p>
          <a:p>
            <a:pPr>
              <a:defRPr sz="2000"/>
            </a:pPr>
            <a:r>
              <a:rPr dirty="0"/>
              <a:t>Why we chose it: FCFS is the most basic, natural way a queue works. The first packet to arrive is the first one processed. It gives us a simple, 'dumb' baseline to compare against our smart algorithms later.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solidFill>
                  <a:srgbClr val="003366"/>
                </a:solidFill>
              </a:defRPr>
            </a:pPr>
            <a:r>
              <a:t>3. System Pipeline Overview</a:t>
            </a:r>
          </a:p>
        </p:txBody>
      </p:sp>
      <p:sp>
        <p:nvSpPr>
          <p:cNvPr id="3" name="Content Placeholder 2"/>
          <p:cNvSpPr>
            <a:spLocks noGrp="1"/>
          </p:cNvSpPr>
          <p:nvPr>
            <p:ph idx="1"/>
          </p:nvPr>
        </p:nvSpPr>
        <p:spPr/>
        <p:txBody>
          <a:bodyPr/>
          <a:lstStyle/>
          <a:p>
            <a:endParaRPr/>
          </a:p>
          <a:p>
            <a:pPr>
              <a:defRPr sz="2000"/>
            </a:pPr>
            <a:r>
              <a:t>Our simulation runs in three simple steps:</a:t>
            </a:r>
          </a:p>
          <a:p>
            <a:pPr>
              <a:defRPr sz="2000"/>
            </a:pPr>
            <a:r>
              <a:t>1. Input Generation: Packets arrive at the router.</a:t>
            </a:r>
          </a:p>
          <a:p>
            <a:pPr>
              <a:defRPr sz="2000"/>
            </a:pPr>
            <a:r>
              <a:t>2. Queue and Server: Packets wait their turn, then get processed.</a:t>
            </a:r>
          </a:p>
          <a:p>
            <a:pPr>
              <a:defRPr sz="2000"/>
            </a:pPr>
            <a:r>
              <a:t>3. Departure: Packets leave the system.</a:t>
            </a:r>
          </a:p>
          <a:p>
            <a:pPr>
              <a:defRPr sz="2000"/>
            </a:pPr>
            <a:r>
              <a:t>Where does uncertainty enter? Only at the very beginning. We cannot control when packets arrive, or how big they are. But once they enter the router, the rules are strict and predictable.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solidFill>
                  <a:srgbClr val="003366"/>
                </a:solidFill>
              </a:defRPr>
            </a:pPr>
            <a:r>
              <a:t>4. Sources of Uncertainty</a:t>
            </a:r>
          </a:p>
        </p:txBody>
      </p:sp>
      <p:sp>
        <p:nvSpPr>
          <p:cNvPr id="3" name="Content Placeholder 2"/>
          <p:cNvSpPr>
            <a:spLocks noGrp="1"/>
          </p:cNvSpPr>
          <p:nvPr>
            <p:ph idx="1"/>
          </p:nvPr>
        </p:nvSpPr>
        <p:spPr/>
        <p:txBody>
          <a:bodyPr/>
          <a:lstStyle/>
          <a:p>
            <a:endParaRPr dirty="0"/>
          </a:p>
          <a:p>
            <a:pPr>
              <a:defRPr sz="2000"/>
            </a:pPr>
            <a:r>
              <a:rPr dirty="0"/>
              <a:t>There are two things we cannot predict in our network:</a:t>
            </a:r>
          </a:p>
          <a:p>
            <a:pPr>
              <a:defRPr sz="2000"/>
            </a:pPr>
            <a:r>
              <a:rPr dirty="0"/>
              <a:t>Uncertainty 1: When will the next packet arrive? Sometimes they arrive in huge bursts, sometimes there are long pauses.</a:t>
            </a:r>
          </a:p>
          <a:p>
            <a:pPr>
              <a:defRPr sz="2000"/>
            </a:pPr>
            <a:r>
              <a:rPr dirty="0"/>
              <a:t>Uncertainty 2: How big is the packet? A large file takes longer for the router to process than a small text message.</a:t>
            </a:r>
          </a:p>
          <a:p>
            <a:pPr>
              <a:defRPr sz="2000"/>
            </a:pPr>
            <a:r>
              <a:rPr dirty="0"/>
              <a:t>How we simulate this: We use a random number generator in Python to create these time gaps and processing times based on our Milestone 2 math.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solidFill>
                  <a:srgbClr val="003366"/>
                </a:solidFill>
              </a:defRPr>
            </a:pPr>
            <a:r>
              <a:t>5. Key Random Variables</a:t>
            </a:r>
          </a:p>
        </p:txBody>
      </p:sp>
      <p:sp>
        <p:nvSpPr>
          <p:cNvPr id="3" name="TextBox 2"/>
          <p:cNvSpPr txBox="1"/>
          <p:nvPr/>
        </p:nvSpPr>
        <p:spPr>
          <a:xfrm>
            <a:off x="457200" y="1188720"/>
            <a:ext cx="8229600" cy="2286000"/>
          </a:xfrm>
          <a:prstGeom prst="rect">
            <a:avLst/>
          </a:prstGeom>
          <a:noFill/>
        </p:spPr>
        <p:txBody>
          <a:bodyPr wrap="square">
            <a:spAutoFit/>
          </a:bodyPr>
          <a:lstStyle/>
          <a:p>
            <a:endParaRPr dirty="0"/>
          </a:p>
          <a:p>
            <a:pPr>
              <a:defRPr sz="1600"/>
            </a:pPr>
            <a:r>
              <a:rPr dirty="0"/>
              <a:t>We track 4 specific Random Variables in our code:</a:t>
            </a:r>
          </a:p>
          <a:p>
            <a:pPr>
              <a:defRPr sz="1600"/>
            </a:pPr>
            <a:r>
              <a:rPr dirty="0"/>
              <a:t>1. Random Variable A: The time gap between arrivals.</a:t>
            </a:r>
          </a:p>
          <a:p>
            <a:pPr>
              <a:defRPr sz="1600"/>
            </a:pPr>
            <a:r>
              <a:rPr dirty="0"/>
              <a:t>2. Random Variable S: The time it takes to serve a packet.</a:t>
            </a:r>
          </a:p>
          <a:p>
            <a:pPr>
              <a:defRPr sz="1600"/>
            </a:pPr>
            <a:r>
              <a:rPr dirty="0"/>
              <a:t>3. Random Variable L: The Queue Length (how many packets are waiting).</a:t>
            </a:r>
          </a:p>
          <a:p>
            <a:pPr>
              <a:defRPr sz="1600"/>
            </a:pPr>
            <a:r>
              <a:rPr dirty="0"/>
              <a:t>4. Random Variable D: Total Delay (Waiting time + Service time).</a:t>
            </a:r>
          </a:p>
        </p:txBody>
      </p:sp>
      <p:pic>
        <p:nvPicPr>
          <p:cNvPr id="4" name="Picture 3" descr="visual_1_inputs.png"/>
          <p:cNvPicPr>
            <a:picLocks noChangeAspect="1"/>
          </p:cNvPicPr>
          <p:nvPr/>
        </p:nvPicPr>
        <p:blipFill>
          <a:blip r:embed="rId2"/>
          <a:stretch>
            <a:fillRect/>
          </a:stretch>
        </p:blipFill>
        <p:spPr>
          <a:xfrm>
            <a:off x="914400" y="3200400"/>
            <a:ext cx="7315200" cy="29260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a:solidFill>
                  <a:srgbClr val="003366"/>
                </a:solidFill>
              </a:defRPr>
            </a:pPr>
            <a:r>
              <a:t>6. Probabilistic Modeling with Deterministic Decisions</a:t>
            </a:r>
          </a:p>
        </p:txBody>
      </p:sp>
      <p:sp>
        <p:nvSpPr>
          <p:cNvPr id="3" name="Content Placeholder 2"/>
          <p:cNvSpPr>
            <a:spLocks noGrp="1"/>
          </p:cNvSpPr>
          <p:nvPr>
            <p:ph idx="1"/>
          </p:nvPr>
        </p:nvSpPr>
        <p:spPr/>
        <p:txBody>
          <a:bodyPr/>
          <a:lstStyle/>
          <a:p>
            <a:endParaRPr dirty="0"/>
          </a:p>
          <a:p>
            <a:pPr>
              <a:defRPr sz="2000"/>
            </a:pPr>
            <a:r>
              <a:rPr dirty="0"/>
              <a:t>How do we mix random traffic with a strict First-Come, First-Served rule?</a:t>
            </a:r>
          </a:p>
          <a:p>
            <a:pPr>
              <a:defRPr sz="2000"/>
            </a:pPr>
            <a:r>
              <a:rPr dirty="0"/>
              <a:t>We use a famous math equation called 'Lindley's Recursion'.</a:t>
            </a:r>
          </a:p>
          <a:p>
            <a:pPr>
              <a:defRPr sz="2000"/>
            </a:pPr>
            <a:r>
              <a:rPr dirty="0"/>
              <a:t>It simply means: Your waiting time depends on the packet in front of you.</a:t>
            </a:r>
          </a:p>
          <a:p>
            <a:pPr>
              <a:defRPr sz="2000"/>
            </a:pPr>
            <a:r>
              <a:rPr dirty="0"/>
              <a:t>Wait Time = (The wait time of the packet before you) + (How long they took to process) - (The time gap between when you both arrived).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solidFill>
                  <a:srgbClr val="003366"/>
                </a:solidFill>
              </a:defRPr>
            </a:pPr>
            <a:r>
              <a:t>7. Deterministic Baseline Logic</a:t>
            </a:r>
          </a:p>
        </p:txBody>
      </p:sp>
      <p:sp>
        <p:nvSpPr>
          <p:cNvPr id="3" name="Content Placeholder 2"/>
          <p:cNvSpPr>
            <a:spLocks noGrp="1"/>
          </p:cNvSpPr>
          <p:nvPr>
            <p:ph idx="1"/>
          </p:nvPr>
        </p:nvSpPr>
        <p:spPr/>
        <p:txBody>
          <a:bodyPr/>
          <a:lstStyle/>
          <a:p>
            <a:endParaRPr dirty="0"/>
          </a:p>
          <a:p>
            <a:pPr>
              <a:defRPr sz="2000"/>
            </a:pPr>
            <a:r>
              <a:rPr dirty="0"/>
              <a:t>The router operates on a strict, step-by-step logic:</a:t>
            </a:r>
          </a:p>
          <a:p>
            <a:pPr>
              <a:defRPr sz="2000"/>
            </a:pPr>
            <a:r>
              <a:rPr dirty="0"/>
              <a:t>Step 1: A packet arrives.</a:t>
            </a:r>
          </a:p>
          <a:p>
            <a:pPr>
              <a:defRPr sz="2000"/>
            </a:pPr>
            <a:r>
              <a:rPr dirty="0"/>
              <a:t>Step 2: The router checks if it is currently busy serving another packet.</a:t>
            </a:r>
          </a:p>
          <a:p>
            <a:pPr>
              <a:defRPr sz="2000"/>
            </a:pPr>
            <a:r>
              <a:rPr dirty="0"/>
              <a:t>Step 3: If busy, the packet goes to the back of the line. If not busy, it gets served immediately.</a:t>
            </a:r>
          </a:p>
          <a:p>
            <a:pPr>
              <a:defRPr sz="2000"/>
            </a:pPr>
            <a:r>
              <a:rPr dirty="0"/>
              <a:t>There are absolutely no randomized algorithms here. No packets are dropped randomly, and there are no  priority lines.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solidFill>
                  <a:srgbClr val="003366"/>
                </a:solidFill>
              </a:defRPr>
            </a:pPr>
            <a:r>
              <a:t>8. Simulation Implementation</a:t>
            </a:r>
          </a:p>
        </p:txBody>
      </p:sp>
      <p:sp>
        <p:nvSpPr>
          <p:cNvPr id="3" name="Content Placeholder 2"/>
          <p:cNvSpPr>
            <a:spLocks noGrp="1"/>
          </p:cNvSpPr>
          <p:nvPr>
            <p:ph idx="1"/>
          </p:nvPr>
        </p:nvSpPr>
        <p:spPr/>
        <p:txBody>
          <a:bodyPr/>
          <a:lstStyle/>
          <a:p>
            <a:endParaRPr/>
          </a:p>
          <a:p>
            <a:pPr>
              <a:defRPr sz="2000"/>
            </a:pPr>
            <a:r>
              <a:t>To build this, we wrote Python code that simulates 100,000 packets.</a:t>
            </a:r>
          </a:p>
          <a:p>
            <a:pPr>
              <a:defRPr sz="2000"/>
            </a:pPr>
            <a:r>
              <a:t>By simulating a massive number of packets, we ensure our averages are highly accurate.</a:t>
            </a:r>
          </a:p>
          <a:p>
            <a:pPr>
              <a:defRPr sz="2000"/>
            </a:pPr>
            <a:r>
              <a:t>Our code tracks the exact millisecond every packet arrives and leaves.</a:t>
            </a:r>
          </a:p>
          <a:p>
            <a:pPr>
              <a:defRPr sz="2000"/>
            </a:pPr>
            <a:r>
              <a:t>From that timeline, we calculate the Total Delay (D) for every packet, and we count how many packets are in the Queue (L) at any given second.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a:solidFill>
                  <a:srgbClr val="003366"/>
                </a:solidFill>
              </a:defRPr>
            </a:pPr>
            <a:r>
              <a:t>9. Results and Performance Analysis</a:t>
            </a:r>
          </a:p>
        </p:txBody>
      </p:sp>
      <p:sp>
        <p:nvSpPr>
          <p:cNvPr id="3" name="TextBox 2"/>
          <p:cNvSpPr txBox="1"/>
          <p:nvPr/>
        </p:nvSpPr>
        <p:spPr>
          <a:xfrm>
            <a:off x="457200" y="1188720"/>
            <a:ext cx="8229600" cy="2286000"/>
          </a:xfrm>
          <a:prstGeom prst="rect">
            <a:avLst/>
          </a:prstGeom>
          <a:noFill/>
        </p:spPr>
        <p:txBody>
          <a:bodyPr wrap="square">
            <a:spAutoFit/>
          </a:bodyPr>
          <a:lstStyle/>
          <a:p>
            <a:endParaRPr dirty="0"/>
          </a:p>
          <a:p>
            <a:pPr>
              <a:defRPr sz="1600"/>
            </a:pPr>
            <a:r>
              <a:rPr dirty="0"/>
              <a:t>Our Python simulation perfectly matched our theoretical math.</a:t>
            </a:r>
          </a:p>
          <a:p>
            <a:pPr>
              <a:defRPr sz="1600"/>
            </a:pPr>
            <a:r>
              <a:rPr dirty="0"/>
              <a:t>Empirical Average Delay (D): Our simulation showed exactly 1.000 seconds, matching the math.</a:t>
            </a:r>
          </a:p>
          <a:p>
            <a:pPr>
              <a:defRPr sz="1600"/>
            </a:pPr>
            <a:r>
              <a:rPr dirty="0"/>
              <a:t>Queue Length (L): Look at the graph below. The number of packets in the system spikes wildly. This is because random traffic arrives in large bursts, causing sudden traffic jams in the router.</a:t>
            </a:r>
          </a:p>
        </p:txBody>
      </p:sp>
      <p:pic>
        <p:nvPicPr>
          <p:cNvPr id="4" name="Picture 3" descr="visual_2_queue.png"/>
          <p:cNvPicPr>
            <a:picLocks noChangeAspect="1"/>
          </p:cNvPicPr>
          <p:nvPr/>
        </p:nvPicPr>
        <p:blipFill>
          <a:blip r:embed="rId2"/>
          <a:stretch>
            <a:fillRect/>
          </a:stretch>
        </p:blipFill>
        <p:spPr>
          <a:xfrm>
            <a:off x="914400" y="3200400"/>
            <a:ext cx="7315200" cy="36576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a:solidFill>
                  <a:srgbClr val="003366"/>
                </a:solidFill>
              </a:defRPr>
            </a:pPr>
            <a:r>
              <a:t>10. Limitations of Deterministic Strategy</a:t>
            </a:r>
          </a:p>
        </p:txBody>
      </p:sp>
      <p:sp>
        <p:nvSpPr>
          <p:cNvPr id="3" name="TextBox 2"/>
          <p:cNvSpPr txBox="1"/>
          <p:nvPr/>
        </p:nvSpPr>
        <p:spPr>
          <a:xfrm>
            <a:off x="457200" y="1188720"/>
            <a:ext cx="8229600" cy="2286000"/>
          </a:xfrm>
          <a:prstGeom prst="rect">
            <a:avLst/>
          </a:prstGeom>
          <a:noFill/>
        </p:spPr>
        <p:txBody>
          <a:bodyPr wrap="square">
            <a:spAutoFit/>
          </a:bodyPr>
          <a:lstStyle/>
          <a:p>
            <a:endParaRPr dirty="0"/>
          </a:p>
          <a:p>
            <a:pPr>
              <a:defRPr sz="1600"/>
            </a:pPr>
            <a:r>
              <a:rPr dirty="0"/>
              <a:t>Our simulation proves that First-Come, First-Served is a very weak strategy when traffic is heavy.</a:t>
            </a:r>
          </a:p>
          <a:p>
            <a:pPr>
              <a:defRPr sz="1600"/>
            </a:pPr>
            <a:r>
              <a:rPr dirty="0"/>
              <a:t>Weakness 1: It cannot adapt. When a huge burst of traffic hits, the router just blindly puts them in a line, leading to massive delays.</a:t>
            </a:r>
          </a:p>
          <a:p>
            <a:pPr>
              <a:defRPr sz="1600"/>
            </a:pPr>
            <a:r>
              <a:rPr dirty="0"/>
              <a:t>Weakness 2: Because we assume the queue can hold infinite packets, the delay just keeps growing longer and longer during a traffic jam.</a:t>
            </a:r>
          </a:p>
        </p:txBody>
      </p:sp>
      <p:pic>
        <p:nvPicPr>
          <p:cNvPr id="4" name="Picture 3" descr="visual_3_delay.png"/>
          <p:cNvPicPr>
            <a:picLocks noChangeAspect="1"/>
          </p:cNvPicPr>
          <p:nvPr/>
        </p:nvPicPr>
        <p:blipFill>
          <a:blip r:embed="rId2"/>
          <a:stretch>
            <a:fillRect/>
          </a:stretch>
        </p:blipFill>
        <p:spPr>
          <a:xfrm>
            <a:off x="914400" y="3200400"/>
            <a:ext cx="7315200" cy="36576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a:solidFill>
                  <a:srgbClr val="003366"/>
                </a:solidFill>
              </a:defRPr>
            </a:pPr>
            <a:r>
              <a:t>11. Summary and Transition to Randomized Strategies</a:t>
            </a:r>
          </a:p>
        </p:txBody>
      </p:sp>
      <p:sp>
        <p:nvSpPr>
          <p:cNvPr id="3" name="Content Placeholder 2"/>
          <p:cNvSpPr>
            <a:spLocks noGrp="1"/>
          </p:cNvSpPr>
          <p:nvPr>
            <p:ph idx="1"/>
          </p:nvPr>
        </p:nvSpPr>
        <p:spPr/>
        <p:txBody>
          <a:bodyPr/>
          <a:lstStyle/>
          <a:p>
            <a:endParaRPr dirty="0"/>
          </a:p>
          <a:p>
            <a:pPr>
              <a:defRPr sz="2000"/>
            </a:pPr>
            <a:r>
              <a:rPr dirty="0"/>
              <a:t>Key Insight: We successfully built a working simulation. We proved that a basic, deterministic queue behaves exactly how our math predicted. It works, but it causes severe lag during bursts.</a:t>
            </a:r>
          </a:p>
          <a:p>
            <a:pPr>
              <a:defRPr sz="2000"/>
            </a:pPr>
            <a:r>
              <a:rPr dirty="0"/>
              <a:t>What's next for Milestone 4?</a:t>
            </a:r>
          </a:p>
          <a:p>
            <a:pPr>
              <a:defRPr sz="2000"/>
            </a:pPr>
            <a:r>
              <a:rPr dirty="0"/>
              <a:t>We will replace this basic FCFS rule with 'Randomized Strategies'. We will write code that intentionally drops packets early when the line gets too long, to prevent the entire system from lagging.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354</TotalTime>
  <Words>848</Words>
  <Application>Microsoft Macintosh PowerPoint</Application>
  <PresentationFormat>On-screen Show (4:3)</PresentationFormat>
  <Paragraphs>64</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Milestone 3: Complete Simulation Pipeline(Baseline) </vt:lpstr>
      <vt:lpstr>2. Project Objective and Deterministic Baseline</vt:lpstr>
      <vt:lpstr>3. System Pipeline Overview</vt:lpstr>
      <vt:lpstr>4. Sources of Uncertainty</vt:lpstr>
      <vt:lpstr>5. Key Random Variables</vt:lpstr>
      <vt:lpstr>6. Probabilistic Modeling with Deterministic Decisions</vt:lpstr>
      <vt:lpstr>7. Deterministic Baseline Logic</vt:lpstr>
      <vt:lpstr>8. Simulation Implementation</vt:lpstr>
      <vt:lpstr>9. Results and Performance Analysis</vt:lpstr>
      <vt:lpstr>10. Limitations of Deterministic Strategy</vt:lpstr>
      <vt:lpstr>11. Summary and Transition to Randomized Strategies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Abbas K</cp:lastModifiedBy>
  <cp:revision>4</cp:revision>
  <dcterms:created xsi:type="dcterms:W3CDTF">2013-01-27T09:14:16Z</dcterms:created>
  <dcterms:modified xsi:type="dcterms:W3CDTF">2026-03-09T11:33:24Z</dcterms:modified>
  <cp:category/>
</cp:coreProperties>
</file>