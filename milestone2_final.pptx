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60" r:id="rId7"/>
    <p:sldId id="276" r:id="rId8"/>
    <p:sldId id="261" r:id="rId9"/>
    <p:sldId id="267" r:id="rId10"/>
    <p:sldId id="264" r:id="rId11"/>
    <p:sldId id="268" r:id="rId12"/>
    <p:sldId id="262" r:id="rId13"/>
    <p:sldId id="263" r:id="rId14"/>
    <p:sldId id="277" r:id="rId15"/>
    <p:sldId id="265" r:id="rId16"/>
    <p:sldId id="266" r:id="rId17"/>
    <p:sldId id="269" r:id="rId18"/>
    <p:sldId id="271" r:id="rId19"/>
    <p:sldId id="273" r:id="rId20"/>
    <p:sldId id="274" r:id="rId21"/>
    <p:sldId id="27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98"/>
  </p:normalViewPr>
  <p:slideViewPr>
    <p:cSldViewPr snapToGrid="0" snapToObjects="1">
      <p:cViewPr varScale="1">
        <p:scale>
          <a:sx n="123" d="100"/>
          <a:sy n="123" d="100"/>
        </p:scale>
        <p:origin x="12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365760"/>
            <a:ext cx="74714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rPr dirty="0"/>
              <a:t>Probabilistic Modelling</a:t>
            </a:r>
            <a:r>
              <a:rPr lang="en-US" dirty="0"/>
              <a:t> and performance analysis of packet delay in a single router network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800" b="1">
                <a:solidFill>
                  <a:srgbClr val="1E3C6E"/>
                </a:solidFill>
                <a:latin typeface="Arial"/>
              </a:defRPr>
            </a:pPr>
            <a:r>
              <a:rPr lang="en-US" dirty="0"/>
              <a:t>						</a:t>
            </a:r>
            <a:r>
              <a:rPr dirty="0"/>
              <a:t>Milestone 2</a:t>
            </a:r>
          </a:p>
          <a:p>
            <a:pPr>
              <a:spcAft>
                <a:spcPts val="600"/>
              </a:spcAft>
              <a:defRPr sz="2800">
                <a:solidFill>
                  <a:srgbClr val="3C3C3C"/>
                </a:solidFill>
                <a:latin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Random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sz="3200" dirty="0"/>
              <a:t>We define the following random variables: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sz="3200" dirty="0"/>
              <a:t>• A = Inter-arrival time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sz="3200" dirty="0"/>
              <a:t>• S = Service time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sz="3200" dirty="0"/>
              <a:t>• D = Total delay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sz="3200" dirty="0"/>
              <a:t>• L = Queue Length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Modeling Arrivals: Poisson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We assume packet arrivals follow a Poisson process.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λ (lambda) = Arrival Rate (packets/sec)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73152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Poisson Distribution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N(t) ~ Poisson(λt)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N(t) = number of arrivals in time 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73152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27000" rtlCol="0" anchor="t"/>
          <a:lstStyle/>
          <a:p>
            <a:pPr algn="l">
              <a:defRPr sz="1600" b="1">
                <a:solidFill>
                  <a:srgbClr val="1E3C6E"/>
                </a:solidFill>
                <a:latin typeface="Arial"/>
              </a:defRPr>
            </a:pPr>
            <a:r>
              <a:t>Example (λ = 2):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In 5 seconds, expected arrivals = λ × t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Expected = 2 × 5 = 10 packets.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Inter-Arrival Time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If arrivals are Poisson, the time between packets (A) is Exponential.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73152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Exponential Distribution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A ~ Exponential(λ)   |   E[A] = 1 / λ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A = Time between consecutive arrivals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73152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27000" rtlCol="0" anchor="t"/>
          <a:lstStyle/>
          <a:p>
            <a:pPr algn="l">
              <a:defRPr sz="1600" b="1">
                <a:solidFill>
                  <a:srgbClr val="1E3C6E"/>
                </a:solidFill>
                <a:latin typeface="Arial"/>
              </a:defRPr>
            </a:pPr>
            <a:r>
              <a:t>Example (λ = 2):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E[A] = 1 / 2 = 0.5 seconds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Meaning: Packets arrive every 0.5s on average.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53D108-670A-A931-3F97-B5B0660B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85988"/>
            <a:ext cx="7772400" cy="468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6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Modeling Service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Service time (S) is also random.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μ (mu) = Service Rate (packets/sec)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73152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Service Time Distribution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S ~ Exponential(μ)   |   E[S] = 1 / μ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S = Time to process one packet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73152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27000" rtlCol="0" anchor="t"/>
          <a:lstStyle/>
          <a:p>
            <a:pPr algn="l">
              <a:defRPr sz="1600" b="1">
                <a:solidFill>
                  <a:srgbClr val="1E3C6E"/>
                </a:solidFill>
                <a:latin typeface="Arial"/>
              </a:defRPr>
            </a:pPr>
            <a:r>
              <a:t>Example (μ = 3):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E[S] = 1 / 3 ≈ 0.33 seconds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Meaning: Router processes 3 packets per second.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2CE3B2-1B42-D0EC-DEB1-569BECC4D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1018"/>
            <a:ext cx="7772400" cy="421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28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Traffic Intensity (ρ)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Traffic Intensity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ρ = λ / μ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Fraction of time the server is busy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 b="1">
                <a:solidFill>
                  <a:srgbClr val="1E3C6E"/>
                </a:solidFill>
                <a:latin typeface="Arial"/>
              </a:defRPr>
            </a:pPr>
            <a:r>
              <a:t>Stability Condition: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Stable if λ &lt; μ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If λ ≥ μ, queue grows indefinitely.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73152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27000" rtlCol="0" anchor="t"/>
          <a:lstStyle/>
          <a:p>
            <a:pPr algn="l">
              <a:defRPr sz="1600" b="1">
                <a:solidFill>
                  <a:srgbClr val="1E3C6E"/>
                </a:solidFill>
                <a:latin typeface="Arial"/>
              </a:defRPr>
            </a:pPr>
            <a:r>
              <a:t>Example (λ = 2, μ = 3):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ρ = 2 / 3 = 0.67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Meaning: Router is busy 67% of the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Queue Length as a Random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600" b="1">
                <a:solidFill>
                  <a:srgbClr val="1E3C6E"/>
                </a:solidFill>
                <a:latin typeface="Arial"/>
              </a:defRPr>
            </a:pPr>
            <a:r>
              <a:t>Define: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t>• N = number of packets in the system (waiting + service)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t>• Nq = number of packets waiting in the queue only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t>• λ = arrival rate, μ = service rate, ρ = λ / μ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00400"/>
            <a:ext cx="64008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Mean Number in System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E[N] = ρ / (1 - ρ)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Average total packets inside the router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029200"/>
            <a:ext cx="64008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Mean Number Waiting in Queue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E[Nq] = ρ² / (1 - ρ)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Average packets waiting before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Little's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Connects Arrival Rate (λ), Delay (W), and Queue Size (L).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73152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Little's Law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L = λ × E[D]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Average number of packets in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73152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27000" rtlCol="0" anchor="t"/>
          <a:lstStyle/>
          <a:p>
            <a:pPr algn="l">
              <a:defRPr sz="1600" b="1">
                <a:solidFill>
                  <a:srgbClr val="1E3C6E"/>
                </a:solidFill>
                <a:latin typeface="Arial"/>
              </a:defRPr>
            </a:pPr>
            <a:r>
              <a:t>Example (λ = 2, E[D] = 1):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L = 2 × 1 = 2 packets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Meaning: On average, 2 packets are inside the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Connecting Queue Length to Delay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Using Little's Law to connect variables: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54864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Little's Law Relation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E[N] = λ E[D]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Relates Size, Arrival Rate, and 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t>This connects: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t>• Arrival rate (λ)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t>• Average delay (E[D])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t>• Average system size (E[N])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474720"/>
            <a:ext cx="41148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27000" rtlCol="0" anchor="t"/>
          <a:lstStyle/>
          <a:p>
            <a:pPr algn="l">
              <a:defRPr sz="1600" b="1">
                <a:solidFill>
                  <a:srgbClr val="1E3C6E"/>
                </a:solidFill>
                <a:latin typeface="Arial"/>
              </a:defRPr>
            </a:pPr>
            <a:r>
              <a:t>Example: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If λ = 2 and E[D] = 1: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Then E[N] = 2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Meaning: On average, 2 packets are inside.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Packet Delay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Total Delay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D = W + S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Wait Time (Queue) + Service Time (Router)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 b="1">
                <a:solidFill>
                  <a:srgbClr val="1E3C6E"/>
                </a:solidFill>
                <a:latin typeface="Arial"/>
              </a:defRPr>
            </a:pPr>
            <a:r>
              <a:t>Definitions: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W = Waiting time in queue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S = Service time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D = Total delay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Insight: This captures both congestion (W) and processing (S).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Average Delay Formula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M/M/1 Average Delay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E[D] = 1 / (μ - λ)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(μ - λ) represents 'Spare Capacity'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 b="1">
                <a:solidFill>
                  <a:srgbClr val="1E3C6E"/>
                </a:solidFill>
                <a:latin typeface="Arial"/>
              </a:defRPr>
            </a:pPr>
            <a:r>
              <a:t>Interpretation: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If spare capacity is small, delay becomes huge.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Delay grows non-linearly.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73152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27000" rtlCol="0" anchor="t"/>
          <a:lstStyle/>
          <a:p>
            <a:pPr algn="l">
              <a:defRPr sz="1600" b="1">
                <a:solidFill>
                  <a:srgbClr val="1E3C6E"/>
                </a:solidFill>
                <a:latin typeface="Arial"/>
              </a:defRPr>
            </a:pPr>
            <a:r>
              <a:t>Example (μ = 3, λ = 2):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E[D] = 1 / (3 - 2) = 1 second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Note: Service is only 0.33s, but total delay is 1s.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526EB0-680A-7CEA-8984-D3C589FD7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3775"/>
            <a:ext cx="7772400" cy="439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17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Exact Tail Probability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Probability of Delay &gt; t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P(D &gt; t) = e^{-(μ - λ)t}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Delay probability decreases exponentially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This measures the 'Tail Risk' or chance of extreme lag.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73152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27000" rtlCol="0" anchor="t"/>
          <a:lstStyle/>
          <a:p>
            <a:pPr algn="l">
              <a:defRPr sz="1600" b="1">
                <a:solidFill>
                  <a:srgbClr val="1E3C6E"/>
                </a:solidFill>
                <a:latin typeface="Arial"/>
              </a:defRPr>
            </a:pPr>
            <a:r>
              <a:t>Example (μ - λ = 1, t = 3):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P(D &gt; 3) = e^-3 ≈ 0.05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t>Result: Only 5% of packets exceed 3 seconds delay.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Markov Inequality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rPr dirty="0"/>
              <a:t>Worst-Case Bound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P(D ≥ t) ≤ E[D] / t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rPr dirty="0"/>
              <a:t>Useful when exact distribution is unknown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73152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27000" rtlCol="0" anchor="t"/>
          <a:lstStyle/>
          <a:p>
            <a:pPr algn="l">
              <a:defRPr sz="1600" b="1">
                <a:solidFill>
                  <a:srgbClr val="1E3C6E"/>
                </a:solidFill>
                <a:latin typeface="Arial"/>
              </a:defRPr>
            </a:pPr>
            <a:r>
              <a:rPr dirty="0"/>
              <a:t>Comparison (E[D] = 1, t = 3):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Markov Bound: ≤ 1/3 ≈ 0.33 (Loose Estimate)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Exact Value: ≈ 0.05 (Precise)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Conclusion: Markov is safe but pessimistic.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Numerical Example (Very Important)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 b="1">
                <a:solidFill>
                  <a:srgbClr val="1E3C6E"/>
                </a:solidFill>
                <a:latin typeface="Arial"/>
              </a:defRPr>
            </a:pPr>
            <a:r>
              <a:rPr dirty="0"/>
              <a:t>Given Parameters: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 err="1"/>
              <a:t>λ</a:t>
            </a:r>
            <a:r>
              <a:t> = 2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 err="1"/>
              <a:t>μ</a:t>
            </a:r>
            <a:r>
              <a:rPr dirty="0"/>
              <a:t> = 3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 err="1"/>
              <a:t>ρ</a:t>
            </a:r>
            <a:r>
              <a:rPr dirty="0"/>
              <a:t> = 2 /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45720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Calculated Expectations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E[N] = 2     |     E[Nq] ≈ 1.33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Results derived from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 b="1">
                <a:solidFill>
                  <a:srgbClr val="1E3C6E"/>
                </a:solidFill>
                <a:latin typeface="Arial"/>
              </a:defRPr>
            </a:pPr>
            <a:r>
              <a:t>Interpretation: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About 1.33 packets are waiting in the queue.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About 0.67 packet is in service.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• Total = 1.33 + 0.67 = 2 packets.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Conclusion: Matches Little’s Law.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Chernoff Bound (General Inequality)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For any non-negative random variable X: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P(X ≥ t) ≤ inf [ E[e^(</a:t>
            </a:r>
            <a:r>
              <a:rPr dirty="0" err="1"/>
              <a:t>sX</a:t>
            </a:r>
            <a:r>
              <a:rPr dirty="0"/>
              <a:t>)] / e^(</a:t>
            </a:r>
            <a:r>
              <a:rPr dirty="0" err="1"/>
              <a:t>st</a:t>
            </a:r>
            <a:r>
              <a:rPr dirty="0"/>
              <a:t>) ]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rPr dirty="0"/>
              <a:t>Minimizing over s &gt;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600" b="1">
                <a:solidFill>
                  <a:srgbClr val="1E3C6E"/>
                </a:solidFill>
                <a:latin typeface="Arial"/>
              </a:defRPr>
            </a:pPr>
            <a:r>
              <a:rPr dirty="0"/>
              <a:t>Where: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X = random variable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t = threshold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s = positive parameter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E[e^(</a:t>
            </a:r>
            <a:r>
              <a:rPr dirty="0" err="1"/>
              <a:t>sX</a:t>
            </a:r>
            <a:r>
              <a:rPr dirty="0"/>
              <a:t>)] = moment generating function (MGF)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600" b="1">
                <a:solidFill>
                  <a:srgbClr val="1E3C6E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Chernoff bound uses exponential moments.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It gives exponentially decaying bounds.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It is tighter than Markov inequality.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Useful for bounding rare events.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Applying Chernoff to Packet Delay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In our model, Delay (D) is Exponential: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737360"/>
            <a:ext cx="5486400" cy="73152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D ~ Exponential(</a:t>
            </a:r>
            <a:r>
              <a:rPr dirty="0" err="1"/>
              <a:t>μ</a:t>
            </a:r>
            <a:r>
              <a:rPr dirty="0"/>
              <a:t> - </a:t>
            </a:r>
            <a:r>
              <a:rPr dirty="0" err="1"/>
              <a:t>λ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Its moment generating function (MGF):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108960"/>
            <a:ext cx="5486400" cy="73152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MD(s) = (</a:t>
            </a:r>
            <a:r>
              <a:rPr dirty="0" err="1"/>
              <a:t>μ</a:t>
            </a:r>
            <a:r>
              <a:rPr dirty="0"/>
              <a:t> - </a:t>
            </a:r>
            <a:r>
              <a:rPr dirty="0" err="1"/>
              <a:t>λ</a:t>
            </a:r>
            <a:r>
              <a:rPr dirty="0"/>
              <a:t>) / (</a:t>
            </a:r>
            <a:r>
              <a:rPr dirty="0" err="1"/>
              <a:t>μ</a:t>
            </a:r>
            <a:r>
              <a:rPr dirty="0"/>
              <a:t> - </a:t>
            </a:r>
            <a:r>
              <a:rPr dirty="0" err="1"/>
              <a:t>λ</a:t>
            </a:r>
            <a:r>
              <a:rPr dirty="0"/>
              <a:t> - s)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rPr dirty="0"/>
              <a:t>for s &lt; </a:t>
            </a:r>
            <a:r>
              <a:rPr dirty="0" err="1"/>
              <a:t>μ</a:t>
            </a:r>
            <a:r>
              <a:rPr dirty="0"/>
              <a:t> - </a:t>
            </a:r>
            <a:r>
              <a:rPr dirty="0" err="1"/>
              <a:t>λ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Using Chernoff inequality, we derive: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480560"/>
            <a:ext cx="5486400" cy="91440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rPr dirty="0"/>
              <a:t>Final Bound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P(D ≥ t) ≤ e^(-(</a:t>
            </a:r>
            <a:r>
              <a:rPr dirty="0" err="1"/>
              <a:t>μ</a:t>
            </a:r>
            <a:r>
              <a:rPr dirty="0"/>
              <a:t> - </a:t>
            </a:r>
            <a:r>
              <a:rPr dirty="0" err="1"/>
              <a:t>λ</a:t>
            </a:r>
            <a:r>
              <a:rPr dirty="0"/>
              <a:t>)t)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600" b="1">
                <a:solidFill>
                  <a:srgbClr val="1E3C6E"/>
                </a:solidFill>
                <a:latin typeface="Arial"/>
              </a:defRPr>
            </a:pPr>
            <a:r>
              <a:rPr dirty="0"/>
              <a:t>Interpretation: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Delay tail decays exponentially.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Larger (</a:t>
            </a:r>
            <a:r>
              <a:rPr dirty="0" err="1"/>
              <a:t>μ</a:t>
            </a:r>
            <a:r>
              <a:rPr dirty="0"/>
              <a:t> - </a:t>
            </a:r>
            <a:r>
              <a:rPr dirty="0" err="1"/>
              <a:t>λ</a:t>
            </a:r>
            <a:r>
              <a:rPr dirty="0"/>
              <a:t>) → faster decay.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This connects arrival/service rates directly to reliability.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t>Comparison of Bounds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 b="1">
                <a:solidFill>
                  <a:srgbClr val="1E3C6E"/>
                </a:solidFill>
                <a:latin typeface="Arial"/>
              </a:defRPr>
            </a:pPr>
            <a:r>
              <a:t>Markov vs Chernoff vs Exact 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rPr dirty="0"/>
              <a:t>1. Exact Tail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P(D &gt; t) = e^(-(</a:t>
            </a:r>
            <a:r>
              <a:rPr dirty="0" err="1"/>
              <a:t>μ</a:t>
            </a:r>
            <a:r>
              <a:rPr dirty="0"/>
              <a:t> - </a:t>
            </a:r>
            <a:r>
              <a:rPr dirty="0" err="1"/>
              <a:t>λ</a:t>
            </a:r>
            <a:r>
              <a:rPr dirty="0"/>
              <a:t>)t)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rPr dirty="0"/>
              <a:t>Matches exponential behavior perfectly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926080"/>
            <a:ext cx="6400800" cy="109728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2. Markov Bound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P(D ≥ t) ≤ E[D] / t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Very loose (decays linearly as 1/t)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06240"/>
            <a:ext cx="6400800" cy="109728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t>3. Chernoff Bound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t>P(D ≥ t) ≤ e^(-(μ - λ)t)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t>Much tighter (Matches the exact exponential decay)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600" b="1">
                <a:solidFill>
                  <a:srgbClr val="1E3C6E"/>
                </a:solidFill>
                <a:latin typeface="Arial"/>
              </a:defRPr>
            </a:pPr>
            <a:r>
              <a:rPr dirty="0"/>
              <a:t>Conclusion: Chernoff is significantly tighter than Markov for Queueing Delay.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D96B20-E04A-55A8-3140-8A6DE8B32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75999"/>
            <a:ext cx="7772400" cy="450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5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1244</Words>
  <Application>Microsoft Macintosh PowerPoint</Application>
  <PresentationFormat>On-screen Show (4:3)</PresentationFormat>
  <Paragraphs>189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Abbas K</cp:lastModifiedBy>
  <cp:revision>7</cp:revision>
  <dcterms:created xsi:type="dcterms:W3CDTF">2013-01-27T09:14:16Z</dcterms:created>
  <dcterms:modified xsi:type="dcterms:W3CDTF">2026-02-18T10:46:53Z</dcterms:modified>
  <cp:category/>
</cp:coreProperties>
</file>