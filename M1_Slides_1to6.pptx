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Arimo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3" y="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8f34f8c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8f34f8c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8f34f8c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8f34f8c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c95f73c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c95f73c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c95f73cf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c95f73cf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c95f73cf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c95f73cf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c95f73cf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c95f73cf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CE5C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498350"/>
            <a:ext cx="8520600" cy="168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Networks: Probabilistic Modeling and Performance Analysis of Packet Delay in a single router network.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73800" y="2264925"/>
            <a:ext cx="8520600" cy="197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By Group 3: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1)Abbas Kharodawala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2)Tirth Pathar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3)Ansh Chaudhari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4)Khushi Paghadar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latin typeface="Times New Roman"/>
                <a:ea typeface="Times New Roman"/>
                <a:cs typeface="Times New Roman"/>
                <a:sym typeface="Times New Roman"/>
              </a:rPr>
              <a:t>5)Namya Parmar</a:t>
            </a:r>
            <a:endParaRPr sz="1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Context and Motivation</a:t>
            </a:r>
            <a:endParaRPr sz="272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833425"/>
            <a:ext cx="4260300" cy="33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30" b="1" dirty="0">
                <a:latin typeface="Times New Roman"/>
                <a:ea typeface="Times New Roman"/>
                <a:cs typeface="Times New Roman"/>
                <a:sym typeface="Times New Roman"/>
              </a:rPr>
              <a:t>Real-world Context:</a:t>
            </a:r>
            <a:endParaRPr sz="293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071" algn="l" rtl="0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183" dirty="0">
                <a:latin typeface="Times New Roman"/>
                <a:ea typeface="Times New Roman"/>
                <a:cs typeface="Times New Roman"/>
                <a:sym typeface="Times New Roman"/>
              </a:rPr>
              <a:t>Modern life relies on real-time data: Video streaming(like youtube), online gaming, and cloud computing.</a:t>
            </a:r>
            <a:endParaRPr sz="2183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071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183" dirty="0">
                <a:latin typeface="Times New Roman"/>
                <a:ea typeface="Times New Roman"/>
                <a:cs typeface="Times New Roman"/>
                <a:sym typeface="Times New Roman"/>
              </a:rPr>
              <a:t>All there services break data into “</a:t>
            </a:r>
            <a:r>
              <a:rPr lang="en" sz="2183" b="1" dirty="0">
                <a:latin typeface="Times New Roman"/>
                <a:ea typeface="Times New Roman"/>
                <a:cs typeface="Times New Roman"/>
                <a:sym typeface="Times New Roman"/>
              </a:rPr>
              <a:t>Packets</a:t>
            </a:r>
            <a:r>
              <a:rPr lang="en" sz="2183" dirty="0">
                <a:latin typeface="Times New Roman"/>
                <a:ea typeface="Times New Roman"/>
                <a:cs typeface="Times New Roman"/>
                <a:sym typeface="Times New Roman"/>
              </a:rPr>
              <a:t>” when too many packets try to move at once.”</a:t>
            </a:r>
            <a:r>
              <a:rPr lang="en" sz="2183" b="1" dirty="0">
                <a:latin typeface="Times New Roman"/>
                <a:ea typeface="Times New Roman"/>
                <a:cs typeface="Times New Roman"/>
                <a:sym typeface="Times New Roman"/>
              </a:rPr>
              <a:t>Congestion</a:t>
            </a:r>
            <a:r>
              <a:rPr lang="en" sz="2183" dirty="0">
                <a:latin typeface="Times New Roman"/>
                <a:ea typeface="Times New Roman"/>
                <a:cs typeface="Times New Roman"/>
                <a:sym typeface="Times New Roman"/>
              </a:rPr>
              <a:t>” happens.</a:t>
            </a:r>
            <a:endParaRPr sz="2183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78536"/>
              <a:buChar char="●"/>
            </a:pPr>
            <a:r>
              <a:rPr lang="en" sz="2291" b="1" dirty="0">
                <a:latin typeface="Times New Roman"/>
                <a:ea typeface="Times New Roman"/>
                <a:cs typeface="Times New Roman"/>
                <a:sym typeface="Times New Roman"/>
              </a:rPr>
              <a:t>The problem: </a:t>
            </a:r>
            <a:r>
              <a:rPr lang="en" sz="2183" dirty="0">
                <a:latin typeface="Times New Roman"/>
                <a:ea typeface="Times New Roman"/>
                <a:cs typeface="Times New Roman"/>
                <a:sym typeface="Times New Roman"/>
              </a:rPr>
              <a:t>congestion leads to packet delay, which users experiences as video buffering, lag in games, poor video and audio quality during phone calls.</a:t>
            </a:r>
            <a:endParaRPr sz="2283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1064450"/>
            <a:ext cx="7998600" cy="8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Domain: </a:t>
            </a:r>
            <a:r>
              <a:rPr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networking &amp; Telecommunications.(specifically Quality of Service)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572000" y="1833150"/>
            <a:ext cx="4260300" cy="3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16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Uncertainty intrinsic?</a:t>
            </a:r>
            <a:endParaRPr sz="2016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traffic is not a fixed schedule.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can’t predict exactly when user will send an email or how big a file will be.</a:t>
            </a:r>
            <a:endParaRPr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human behavior and data traffic are random, the system is inherently uncertain.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lang="en" b="1">
                <a:solidFill>
                  <a:schemeClr val="dk2"/>
                </a:solidFill>
              </a:rPr>
              <a:t> </a:t>
            </a: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and Scope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latin typeface="Times New Roman"/>
                <a:ea typeface="Times New Roman"/>
                <a:cs typeface="Times New Roman"/>
                <a:sym typeface="Times New Roman"/>
              </a:rPr>
              <a:t>Exact Objective:</a:t>
            </a:r>
            <a:endParaRPr sz="3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1788" algn="l" rtl="0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300" dirty="0">
                <a:latin typeface="Times New Roman"/>
                <a:ea typeface="Times New Roman"/>
                <a:cs typeface="Times New Roman"/>
                <a:sym typeface="Times New Roman"/>
              </a:rPr>
              <a:t>To analyze how random traffic patterns affect the time a packet waits in a queue.</a:t>
            </a: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1788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300" dirty="0">
                <a:latin typeface="Times New Roman"/>
                <a:ea typeface="Times New Roman"/>
                <a:cs typeface="Times New Roman"/>
                <a:sym typeface="Times New Roman"/>
              </a:rPr>
              <a:t>To apply “Queueing Theory ” to estimate the average delay a user might experience.</a:t>
            </a: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1788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300" dirty="0">
                <a:latin typeface="Times New Roman"/>
                <a:ea typeface="Times New Roman"/>
                <a:cs typeface="Times New Roman"/>
                <a:sym typeface="Times New Roman"/>
              </a:rPr>
              <a:t>Queueing theory is the mathematical study of waiting lines. using probability, it analyzes arrivals and service times to predict delay and optimize system performance and network efficiency.</a:t>
            </a:r>
            <a:endParaRPr sz="23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8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17" b="1" dirty="0">
                <a:latin typeface="Times New Roman"/>
                <a:ea typeface="Times New Roman"/>
                <a:cs typeface="Times New Roman"/>
                <a:sym typeface="Times New Roman"/>
              </a:rPr>
              <a:t>Scope:</a:t>
            </a:r>
            <a:endParaRPr sz="2417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The system: </a:t>
            </a:r>
            <a:r>
              <a:rPr lang="en" sz="2100" dirty="0">
                <a:latin typeface="Times New Roman"/>
                <a:ea typeface="Times New Roman"/>
                <a:cs typeface="Times New Roman"/>
                <a:sym typeface="Times New Roman"/>
              </a:rPr>
              <a:t>A “Single Router Network.” instead of modeling the whole internet, we focus on one router where the traffic jam actually happens.</a:t>
            </a:r>
            <a:endParaRPr sz="21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25" b="1" dirty="0">
                <a:latin typeface="Times New Roman"/>
                <a:ea typeface="Times New Roman"/>
                <a:cs typeface="Times New Roman"/>
                <a:sym typeface="Times New Roman"/>
              </a:rPr>
              <a:t>What is being predicted here is:</a:t>
            </a:r>
            <a:endParaRPr sz="2025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7940" algn="l" rtl="0">
              <a:spcBef>
                <a:spcPts val="12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025" dirty="0">
                <a:latin typeface="Times New Roman"/>
                <a:ea typeface="Times New Roman"/>
                <a:cs typeface="Times New Roman"/>
                <a:sym typeface="Times New Roman"/>
              </a:rPr>
              <a:t>Average Packet Delay: waiting time + processing time.</a:t>
            </a:r>
            <a:endParaRPr sz="2025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7940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2025" dirty="0">
                <a:latin typeface="Times New Roman"/>
                <a:ea typeface="Times New Roman"/>
                <a:cs typeface="Times New Roman"/>
                <a:sym typeface="Times New Roman"/>
              </a:rPr>
              <a:t>Queue Length : how many packets are stuck waiting in line at any given time.</a:t>
            </a:r>
            <a:endParaRPr sz="1925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158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System Overview</a:t>
            </a:r>
            <a:endParaRPr sz="272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0" y="730925"/>
            <a:ext cx="9144000" cy="44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imes New Roman"/>
              <a:buAutoNum type="arabicPeriod"/>
            </a:pPr>
            <a:r>
              <a:rPr lang="en" sz="24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to End pipeline:</a:t>
            </a:r>
            <a:endParaRPr sz="24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</a:pPr>
            <a:r>
              <a:rPr lang="en" sz="19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 </a:t>
            </a:r>
            <a:r>
              <a:rPr lang="en" sz="19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Packet arrival form the different sources. </a:t>
            </a:r>
            <a:endParaRPr sz="19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</a:pPr>
            <a:r>
              <a:rPr lang="en" sz="19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Buffer(The Queue):</a:t>
            </a:r>
            <a:r>
              <a:rPr lang="en" sz="19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the router is busy, packets wait here.</a:t>
            </a:r>
            <a:endParaRPr sz="19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</a:pPr>
            <a:r>
              <a:rPr lang="en" sz="19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Server(The Router): </a:t>
            </a:r>
            <a:r>
              <a:rPr lang="en" sz="19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router processes one packet at a time and send it further.</a:t>
            </a:r>
            <a:endParaRPr sz="19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</a:pPr>
            <a:r>
              <a:rPr lang="en" sz="19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 </a:t>
            </a:r>
            <a:r>
              <a:rPr lang="en" sz="19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packet leaves the system and moves to the next destination.</a:t>
            </a:r>
            <a:endParaRPr sz="19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</a:pPr>
            <a:r>
              <a:rPr lang="en" sz="24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Data flow:</a:t>
            </a:r>
            <a:endParaRPr sz="24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</a:pPr>
            <a:r>
              <a:rPr lang="en" sz="19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 → Arrival Queue → Service (Processing) → Departure.</a:t>
            </a:r>
            <a:endParaRPr sz="19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</a:pPr>
            <a:endParaRPr lang="en" sz="1200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</a:pPr>
            <a:r>
              <a:rPr lang="en" sz="2400" b="1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Analogy:</a:t>
            </a:r>
            <a:endParaRPr sz="24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Times New Roman"/>
              <a:buChar char="●"/>
            </a:pPr>
            <a:r>
              <a:rPr lang="en" sz="1900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of it like a checkout counter. Customers(Packets) arrive, stand in line (Queue), pay the cashier (Router processing), and leave</a:t>
            </a:r>
            <a:endParaRPr sz="1900" b="1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103800"/>
            <a:ext cx="8520600" cy="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Sources of uncertainty in the Project</a:t>
            </a:r>
            <a:endParaRPr sz="272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744900"/>
            <a:ext cx="8520600" cy="43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eriod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Random Packet Arrivals(“When”):</a:t>
            </a:r>
            <a:endParaRPr sz="2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Packets do not arrive at fixed time intervals.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Sometimes packets arrive in sudden “burst”, and sometimes there is a long gap. This randomness creates uncertainty.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2.  Variable Service Time(“How Big”):</a:t>
            </a:r>
            <a:endParaRPr sz="2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Not all packets are the same in size.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Processing a large video file packet takes longer than processing a small text message packet.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This variation in “Service time” means we can’t predict exactly how fast the line will move.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3.  Resources Contention:</a:t>
            </a:r>
            <a:endParaRPr sz="2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 dirty="0">
                <a:latin typeface="Times New Roman"/>
                <a:ea typeface="Times New Roman"/>
                <a:cs typeface="Times New Roman"/>
                <a:sym typeface="Times New Roman"/>
              </a:rPr>
              <a:t>The router and only serve one packet at a time, creating a bottleneck when multiple arrive simultaneously.</a:t>
            </a:r>
            <a:endParaRPr sz="1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Random Variables and Their Roles</a:t>
            </a:r>
            <a:endParaRPr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AutoNum type="arabicPeriod"/>
            </a:pP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Inter-Arrival Time (A):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Role : Represents the time gap between two consecutive packets arriving at the router.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Nature: Random (short gaps = heavy traffic: long gao = light traffic).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160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000" b="1" dirty="0">
                <a:latin typeface="Times New Roman"/>
                <a:ea typeface="Times New Roman"/>
                <a:cs typeface="Times New Roman"/>
                <a:sym typeface="Times New Roman"/>
              </a:rPr>
              <a:t>2.   Service Time(S):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Role : The time router takes to process a single packet.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 dirty="0">
                <a:latin typeface="Times New Roman"/>
                <a:ea typeface="Times New Roman"/>
                <a:cs typeface="Times New Roman"/>
                <a:sym typeface="Times New Roman"/>
              </a:rPr>
              <a:t>Nature : Depends on the packet size(random).</a:t>
            </a:r>
            <a:endParaRPr sz="20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9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  <a:t>3.   Waiting Time / Delay (W):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Role : The total time a packet spends in the system(Time in queue + time in service).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Nature : This is the main variable we are trying to predict. 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latin typeface="Times New Roman"/>
                <a:ea typeface="Times New Roman"/>
                <a:cs typeface="Times New Roman"/>
                <a:sym typeface="Times New Roman"/>
              </a:rPr>
              <a:t>4.    Queue Length(Q):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Role : The number of packet waiting in line at any specific moment. </a:t>
            </a:r>
            <a:endParaRPr sz="20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20" b="1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Probabilistic Model and Assumptions</a:t>
            </a:r>
            <a:endParaRPr sz="2720" b="1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347345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lang="en" sz="2200" b="1" dirty="0">
                <a:latin typeface="Times New Roman"/>
                <a:ea typeface="Times New Roman"/>
                <a:cs typeface="Times New Roman"/>
                <a:sym typeface="Times New Roman"/>
              </a:rPr>
              <a:t>The Model Used :</a:t>
            </a:r>
            <a:endParaRPr sz="2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indent="-328453">
              <a:buSzPct val="100000"/>
              <a:buFont typeface="Times New Roman"/>
              <a:buChar char="●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utilize 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M/M/1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queueing model, where the first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Markovian (Poisson) arrival process, the second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Markovian (exponential) service process, and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single server.</a:t>
            </a:r>
            <a:endParaRPr sz="21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115253" lvl="0" indent="0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" sz="2100" b="1" dirty="0">
                <a:latin typeface="Times New Roman"/>
                <a:ea typeface="Times New Roman"/>
                <a:cs typeface="Times New Roman"/>
                <a:sym typeface="Times New Roman"/>
              </a:rPr>
              <a:t>2.    Probability Distributions :</a:t>
            </a:r>
            <a:endParaRPr sz="21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2365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922" b="1" dirty="0">
                <a:latin typeface="Times New Roman"/>
                <a:ea typeface="Times New Roman"/>
                <a:cs typeface="Times New Roman"/>
                <a:sym typeface="Times New Roman"/>
              </a:rPr>
              <a:t>Poisson Process (For Arrivals) : </a:t>
            </a:r>
            <a:r>
              <a:rPr lang="en" sz="1922" dirty="0">
                <a:latin typeface="Times New Roman"/>
                <a:ea typeface="Times New Roman"/>
                <a:cs typeface="Times New Roman"/>
                <a:sym typeface="Times New Roman"/>
              </a:rPr>
              <a:t>We assume packet arrivals follow a Poisson distribution. This is the standard way to model random, independent events (like phone calls or website).</a:t>
            </a:r>
            <a:endParaRPr sz="1922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2365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922" b="1" dirty="0">
                <a:latin typeface="Times New Roman"/>
                <a:ea typeface="Times New Roman"/>
                <a:cs typeface="Times New Roman"/>
                <a:sym typeface="Times New Roman"/>
              </a:rPr>
              <a:t>Exponential Distribution (for Service Time) : </a:t>
            </a:r>
            <a:r>
              <a:rPr lang="en" sz="1922" dirty="0">
                <a:latin typeface="Times New Roman"/>
                <a:ea typeface="Times New Roman"/>
                <a:cs typeface="Times New Roman"/>
                <a:sym typeface="Times New Roman"/>
              </a:rPr>
              <a:t>We assume service times are exponentially distributed. This accounts for the high probability of many small packets and the low probability of very large packets.</a:t>
            </a:r>
            <a:endParaRPr sz="1922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35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02708" lvl="0" indent="0" algn="l" rtl="0">
              <a:spcBef>
                <a:spcPts val="1200"/>
              </a:spcBef>
              <a:spcAft>
                <a:spcPts val="0"/>
              </a:spcAft>
              <a:buSzPct val="100000"/>
              <a:buNone/>
            </a:pPr>
            <a:r>
              <a:rPr lang="en" sz="2332" b="1" dirty="0">
                <a:latin typeface="Times New Roman"/>
                <a:ea typeface="Times New Roman"/>
                <a:cs typeface="Times New Roman"/>
                <a:sym typeface="Times New Roman"/>
              </a:rPr>
              <a:t>3.   Assumptions &amp; Justification:</a:t>
            </a:r>
            <a:endParaRPr sz="2332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8453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850" b="1" dirty="0">
                <a:latin typeface="Times New Roman"/>
                <a:ea typeface="Times New Roman"/>
                <a:cs typeface="Times New Roman"/>
                <a:sym typeface="Times New Roman"/>
              </a:rPr>
              <a:t>Independence : </a:t>
            </a: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The arrival of one packet does not influence the arrival of another.</a:t>
            </a:r>
            <a:endParaRPr sz="185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8453" algn="l" rtl="0"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" sz="1850" b="1" dirty="0">
                <a:latin typeface="Times New Roman"/>
                <a:ea typeface="Times New Roman"/>
                <a:cs typeface="Times New Roman"/>
                <a:sym typeface="Times New Roman"/>
              </a:rPr>
              <a:t>Why these models? </a:t>
            </a:r>
            <a:r>
              <a:rPr lang="en" sz="1850" dirty="0">
                <a:latin typeface="Times New Roman"/>
                <a:ea typeface="Times New Roman"/>
                <a:cs typeface="Times New Roman"/>
                <a:sym typeface="Times New Roman"/>
              </a:rPr>
              <a:t>They provide a mathematical “worst-case” scenario that closely mirrors real-world random traffic, allowing us to calculate averages without complex simulations.</a:t>
            </a:r>
            <a:r>
              <a:rPr lang="en" sz="185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5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851</Words>
  <Application>Microsoft Office PowerPoint</Application>
  <PresentationFormat>On-screen Show (16:9)</PresentationFormat>
  <Paragraphs>72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Arimo</vt:lpstr>
      <vt:lpstr>Times New Roman</vt:lpstr>
      <vt:lpstr>Simple Light</vt:lpstr>
      <vt:lpstr>Networks: Probabilistic Modeling and Performance Analysis of Packet Delay in a single router network.</vt:lpstr>
      <vt:lpstr>Project Context and Motivation</vt:lpstr>
      <vt:lpstr>Project Objective and Scope</vt:lpstr>
      <vt:lpstr>Project System Overview</vt:lpstr>
      <vt:lpstr>Sources of uncertainty in the Project</vt:lpstr>
      <vt:lpstr>Key Random Variables and Their Roles</vt:lpstr>
      <vt:lpstr>Probabilistic Model and Assumptions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Khushi Paghdar</cp:lastModifiedBy>
  <cp:revision>2</cp:revision>
  <dcterms:modified xsi:type="dcterms:W3CDTF">2026-02-02T05:55:50Z</dcterms:modified>
</cp:coreProperties>
</file>