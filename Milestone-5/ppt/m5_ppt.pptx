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0" r:id="rId4"/>
    <p:sldId id="281" r:id="rId5"/>
    <p:sldId id="282" r:id="rId6"/>
    <p:sldId id="283" r:id="rId7"/>
    <p:sldId id="271" r:id="rId8"/>
    <p:sldId id="267" r:id="rId9"/>
    <p:sldId id="272" r:id="rId10"/>
    <p:sldId id="273" r:id="rId11"/>
    <p:sldId id="258" r:id="rId12"/>
    <p:sldId id="274" r:id="rId13"/>
    <p:sldId id="278" r:id="rId14"/>
    <p:sldId id="259" r:id="rId15"/>
    <p:sldId id="279" r:id="rId16"/>
    <p:sldId id="261" r:id="rId17"/>
    <p:sldId id="260" r:id="rId18"/>
    <p:sldId id="262" r:id="rId19"/>
    <p:sldId id="263" r:id="rId20"/>
    <p:sldId id="264" r:id="rId21"/>
    <p:sldId id="265" r:id="rId22"/>
    <p:sldId id="26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67"/>
  </p:normalViewPr>
  <p:slideViewPr>
    <p:cSldViewPr snapToGrid="0" snapToObjects="1">
      <p:cViewPr varScale="1">
        <p:scale>
          <a:sx n="90" d="100"/>
          <a:sy n="90" d="100"/>
        </p:scale>
        <p:origin x="8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11057860" cy="1470025"/>
          </a:xfrm>
        </p:spPr>
        <p:txBody>
          <a:bodyPr>
            <a:normAutofit fontScale="90000"/>
          </a:bodyPr>
          <a:lstStyle/>
          <a:p>
            <a:pPr>
              <a:defRPr>
                <a:solidFill>
                  <a:srgbClr val="1F4E79"/>
                </a:solidFill>
                <a:latin typeface="Segoe UI"/>
              </a:defRPr>
            </a:pPr>
            <a:r>
              <a:rPr dirty="0"/>
              <a:t>Probabilistic Modelling and Performance Analysis of Packet Delay</a:t>
            </a:r>
            <a:r>
              <a:rPr lang="en-US" dirty="0"/>
              <a:t> in a single router Network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just"/>
            <a:r>
              <a:rPr sz="2400" b="1" dirty="0"/>
              <a:t>Group 3</a:t>
            </a:r>
          </a:p>
          <a:p>
            <a:pPr algn="just"/>
            <a:r>
              <a:rPr sz="2400" b="1" dirty="0"/>
              <a:t>Abbas Kharodawala</a:t>
            </a:r>
            <a:endParaRPr lang="en-US" sz="2400" b="1" dirty="0"/>
          </a:p>
          <a:p>
            <a:pPr algn="just"/>
            <a:r>
              <a:rPr lang="en-IN" sz="2400" b="1" dirty="0"/>
              <a:t>Khushi </a:t>
            </a:r>
            <a:r>
              <a:rPr lang="en-IN" sz="2400" b="1" dirty="0" err="1"/>
              <a:t>Paghadar</a:t>
            </a:r>
            <a:endParaRPr lang="en-IN" sz="2400" b="1" dirty="0"/>
          </a:p>
          <a:p>
            <a:pPr algn="just"/>
            <a:r>
              <a:rPr sz="2400" b="1" dirty="0"/>
              <a:t>Tirth </a:t>
            </a:r>
            <a:r>
              <a:rPr sz="2400" b="1" dirty="0" err="1"/>
              <a:t>Pathar</a:t>
            </a:r>
            <a:endParaRPr lang="en-IN" sz="2400" b="1" dirty="0"/>
          </a:p>
          <a:p>
            <a:pPr algn="just"/>
            <a:r>
              <a:rPr sz="2400" b="1" dirty="0"/>
              <a:t>Ansh Chaudhari </a:t>
            </a:r>
            <a:endParaRPr lang="en-IN" sz="2400" b="1" dirty="0"/>
          </a:p>
          <a:p>
            <a:pPr algn="just"/>
            <a:r>
              <a:rPr sz="2400" b="1" dirty="0" err="1"/>
              <a:t>Namya</a:t>
            </a:r>
            <a:r>
              <a:rPr lang="en-US" sz="2400" b="1" dirty="0" err="1"/>
              <a:t>a</a:t>
            </a:r>
            <a:r>
              <a:rPr sz="2400" b="1" dirty="0"/>
              <a:t> Parmar</a:t>
            </a:r>
            <a:endParaRPr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0972800" cy="914400"/>
          </a:xfrm>
        </p:spPr>
        <p:txBody>
          <a:bodyPr/>
          <a:lstStyle/>
          <a:p>
            <a:pPr>
              <a:defRPr sz="3600" b="1">
                <a:solidFill>
                  <a:srgbClr val="1F4E79"/>
                </a:solidFill>
                <a:latin typeface="Segoe UI"/>
              </a:defRPr>
            </a:pPr>
            <a:r>
              <a:rPr dirty="0"/>
              <a:t>Problem Formulation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>
                <a:solidFill>
                  <a:srgbClr val="505050"/>
                </a:solidFill>
                <a:latin typeface="Segoe UI"/>
              </a:defRPr>
            </a:pP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traffic is inherently stochastic and unpredictable.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>
                <a:solidFill>
                  <a:srgbClr val="505050"/>
                </a:solidFill>
                <a:latin typeface="Segoe UI"/>
              </a:defRPr>
            </a:pP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cannot control when users request data (Arrivals) or the payload size (Service).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>
                <a:solidFill>
                  <a:srgbClr val="505050"/>
                </a:solidFill>
                <a:latin typeface="Segoe UI"/>
              </a:defRPr>
            </a:pP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congestion leads to packet delay, experienced as lag, buffering, or dropped connections.</a:t>
            </a: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>
                <a:solidFill>
                  <a:srgbClr val="505050"/>
                </a:solidFill>
                <a:latin typeface="Segoe UI"/>
              </a:defRPr>
            </a:pP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 Analyze how random traffic patterns affect wait times and use Active Queue Management (AQM) to optimize routing logic.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B3C74F-71AC-6343-A39B-834436179AB7}"/>
              </a:ext>
            </a:extLst>
          </p:cNvPr>
          <p:cNvSpPr txBox="1"/>
          <p:nvPr/>
        </p:nvSpPr>
        <p:spPr>
          <a:xfrm>
            <a:off x="147084" y="451884"/>
            <a:ext cx="1189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Base Paper overview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3BC6B2-38CC-A32D-D5F1-A70553CE19B6}"/>
              </a:ext>
            </a:extLst>
          </p:cNvPr>
          <p:cNvSpPr txBox="1"/>
          <p:nvPr/>
        </p:nvSpPr>
        <p:spPr>
          <a:xfrm>
            <a:off x="74428" y="1499191"/>
            <a:ext cx="1204314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 Research Paper: Delay Models in Data Networks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Bertsekas</a:t>
            </a: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Gallager (MIT Analysis).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Idea:</a:t>
            </a: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Provides a mathematical framework to predict packet delay using Queueing Theory.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Concept:</a:t>
            </a: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Identifies that "Queueing Delay" is the most volatile and critical component of total network latency.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Moving from static, predictable models to </a:t>
            </a:r>
            <a:r>
              <a:rPr lang="en-US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 models</a:t>
            </a: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account for random traffic bursts.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469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BA22C-539E-BB30-98AB-DF4C9660D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325" y="274638"/>
            <a:ext cx="11217349" cy="1001269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Base Paper overview -1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19AE02-CD83-B421-FFD8-2E042FCC20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926" y="1379648"/>
            <a:ext cx="11837923" cy="4681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Delay : 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network delay is a combination of processing, queueing, transmission, and propagation times. Statistical multiplexing is often used to efficiently manage traffic and minimize this delay.</a:t>
            </a:r>
          </a:p>
          <a:p>
            <a:pPr marL="0" lvl="0" indent="0">
              <a:buNone/>
            </a:pP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Golden Rule - Little's Theorem : 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fundamental formula $N = \lambda T$ connects the average number of packets in the system ($N$) to the arrival rate ($\lambda$) and average delay ($T$), holding true across almost all stable probabilistic queueing models.</a:t>
            </a:r>
          </a:p>
          <a:p>
            <a:pPr marL="0" lvl="0" indent="0">
              <a:buNone/>
            </a:pP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Baseline Model - M/M/1 : 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foundational queueing system featuring Poisson arrivals and exponential service times for a single server, serving as the starting point for understanding occupancy distribution and steady-state </a:t>
            </a:r>
            <a:r>
              <a:rPr lang="en-IN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595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CD2FAC-B2C5-9939-B289-28BBA110D1C8}"/>
              </a:ext>
            </a:extLst>
          </p:cNvPr>
          <p:cNvSpPr txBox="1"/>
          <p:nvPr/>
        </p:nvSpPr>
        <p:spPr>
          <a:xfrm>
            <a:off x="170121" y="334926"/>
            <a:ext cx="11701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Base Paper overview - 2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6B9F9E-C6C0-0153-904C-3B7800CB721A}"/>
              </a:ext>
            </a:extLst>
          </p:cNvPr>
          <p:cNvSpPr txBox="1"/>
          <p:nvPr/>
        </p:nvSpPr>
        <p:spPr>
          <a:xfrm>
            <a:off x="249865" y="1765004"/>
            <a:ext cx="11621386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Markov Systems :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Extending the M/M/1 model to handle real-world variations, including multi-server setups (M/M/m), idealized infinite-server scenarios (M/M/∞), and loss systems where packets are dropped if no servers are available (M/M/m/m).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M/G/1 System :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Moving beyond exponential service to allow for General service time distributions. This section introduces the critical role of service time variance (via the </a:t>
            </a:r>
            <a:r>
              <a:rPr lang="en-IN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Pollaczek-Khinchin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formula).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Variations :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Applying M/G/1 principles to specialized network </a:t>
            </a:r>
            <a:r>
              <a:rPr lang="en-IN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behaviors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like server vacations, reservation/polling protocols, and priority-based queueing for different traffic classes.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4387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1130BC-E43C-BFCF-8DFE-B4677BB652F8}"/>
              </a:ext>
            </a:extLst>
          </p:cNvPr>
          <p:cNvSpPr txBox="1"/>
          <p:nvPr/>
        </p:nvSpPr>
        <p:spPr>
          <a:xfrm>
            <a:off x="132907" y="297712"/>
            <a:ext cx="11823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Base Paper overview -3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9876A9-369F-996B-2F81-86400665905F}"/>
              </a:ext>
            </a:extLst>
          </p:cNvPr>
          <p:cNvSpPr txBox="1"/>
          <p:nvPr/>
        </p:nvSpPr>
        <p:spPr>
          <a:xfrm>
            <a:off x="184297" y="1360968"/>
            <a:ext cx="1182340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Simplifying Complex Networks : 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networks consist of multiple interconnected queues. Tools like the </a:t>
            </a:r>
            <a:r>
              <a:rPr lang="en-IN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Kleinrock Independence Approximation 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simplify transmission line analysis, while </a:t>
            </a:r>
            <a:r>
              <a:rPr lang="en-IN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Jackson's Theorem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allows complex networks to be solved as a product of independent queues.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Properties :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Burke’s Theorem 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the concept of time reversibility prove that the departure process of a stable M/M/1 queue is also a Poisson process, a crucial property for </a:t>
            </a:r>
            <a:r>
              <a:rPr lang="en-IN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cascading queues.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Foundations (Appendices):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All these models rely heavily on continuous and discrete-time </a:t>
            </a:r>
            <a:r>
              <a:rPr lang="en-IN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Markov Chain Theory 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algorithms like Mean Value Analysis to compute average system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4319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25377" y="365761"/>
            <a:ext cx="409035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3C6E"/>
                </a:solidFill>
                <a:latin typeface="Arial"/>
              </a:defRPr>
            </a:pPr>
            <a:r>
              <a:rPr sz="3600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Random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841" y="950536"/>
            <a:ext cx="11498317" cy="6258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assume packet arrivals follow a Poisson process.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rPr lang="en-I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N(t) ~ Poisson(</a:t>
            </a:r>
            <a:r>
              <a:rPr lang="el-GR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I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t)</a:t>
            </a: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N(t) = number of arrivals in time t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lang="el-G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 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Arrival Rate (packets/sec) 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lang="el-G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Service Rate (packets/sec)</a:t>
            </a:r>
          </a:p>
          <a:p>
            <a:endParaRPr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define the following random variables: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 = Inter-arrival time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Exponential distribution  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~ Exponential(</a:t>
            </a:r>
            <a:r>
              <a:rPr lang="el-G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λ)   |   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E[A] = 1 / </a:t>
            </a:r>
            <a:r>
              <a:rPr lang="el-G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endParaRPr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 = Service time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~ Exponential(</a:t>
            </a:r>
            <a:r>
              <a:rPr lang="el-G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μ)   |   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E[S] = 1 / </a:t>
            </a:r>
            <a:r>
              <a:rPr lang="el-G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  <a:latin typeface="Arial"/>
              </a:defRPr>
            </a:pP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delay D = W + S Wait Time (Queue) + Service Time (Router)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 = Queue Length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endParaRPr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endParaRPr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is a graph showing the comparison between the empirical probability density function (PDF) and the theoretical PDF for inter-arrival times, with values on the X-axis ranging from 0 to 6, and the Y-axis showing density values.&#10;&#10;AI-generated content may be incorrect.">
            <a:extLst>
              <a:ext uri="{FF2B5EF4-FFF2-40B4-BE49-F238E27FC236}">
                <a16:creationId xmlns:a16="http://schemas.microsoft.com/office/drawing/2014/main" id="{C2807745-679F-9531-0B90-1A0B2F7DA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9" y="1518759"/>
            <a:ext cx="5770298" cy="3970601"/>
          </a:xfrm>
          <a:prstGeom prst="rect">
            <a:avLst/>
          </a:prstGeom>
        </p:spPr>
      </p:pic>
      <p:pic>
        <p:nvPicPr>
          <p:cNvPr id="5" name="Picture 4" descr="The diagram depicts a comparison between an empirical probability density function (PDF) and a theoretical PDF, illustrating how the distribution of service times changes over time.&#10;&#10;AI-generated content may be incorrect.">
            <a:extLst>
              <a:ext uri="{FF2B5EF4-FFF2-40B4-BE49-F238E27FC236}">
                <a16:creationId xmlns:a16="http://schemas.microsoft.com/office/drawing/2014/main" id="{B75C8CA3-2EA5-5055-89F4-704EAB09F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679" y="1511089"/>
            <a:ext cx="5883712" cy="39859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5E2E3F-5341-86C1-9023-2B3107E0121B}"/>
              </a:ext>
            </a:extLst>
          </p:cNvPr>
          <p:cNvSpPr txBox="1"/>
          <p:nvPr/>
        </p:nvSpPr>
        <p:spPr>
          <a:xfrm>
            <a:off x="173302" y="659217"/>
            <a:ext cx="117596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Plots :</a:t>
            </a:r>
          </a:p>
        </p:txBody>
      </p:sp>
    </p:spTree>
    <p:extLst>
      <p:ext uri="{BB962C8B-B14F-4D97-AF65-F5344CB8AC3E}">
        <p14:creationId xmlns:p14="http://schemas.microsoft.com/office/powerpoint/2010/main" val="3454790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365761"/>
            <a:ext cx="385054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C6E"/>
                </a:solidFill>
                <a:latin typeface="Arial"/>
              </a:defRPr>
            </a:pPr>
            <a:r>
              <a:rPr sz="3200"/>
              <a:t>Traffic Intensity (ρ)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8400" y="1371600"/>
            <a:ext cx="7315200" cy="146304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C6E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Intensity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Fraction of time the server is busy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400" y="3200401"/>
            <a:ext cx="822960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1800" b="1">
                <a:solidFill>
                  <a:srgbClr val="1E3C6E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 Condition:</a:t>
            </a: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Stable if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If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≥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queue grows indefinitely.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7014" y="4754880"/>
            <a:ext cx="7315200" cy="137160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27000" rtlCol="0" anchor="t"/>
          <a:lstStyle/>
          <a:p>
            <a:pPr algn="l">
              <a:defRPr sz="1600" b="1">
                <a:solidFill>
                  <a:srgbClr val="1E3C6E"/>
                </a:solidFill>
                <a:latin typeface="Arial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(λ = 2, μ = 3):</a:t>
            </a:r>
          </a:p>
          <a:p>
            <a:pPr algn="l">
              <a:defRPr sz="1600">
                <a:solidFill>
                  <a:srgbClr val="3C3C3C"/>
                </a:solidFill>
                <a:latin typeface="Arial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 = 2 / 3 = 0.67</a:t>
            </a:r>
          </a:p>
          <a:p>
            <a:pPr algn="l">
              <a:defRPr sz="1600">
                <a:solidFill>
                  <a:srgbClr val="3C3C3C"/>
                </a:solidFill>
                <a:latin typeface="Arial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Meaning: Router is busy 67% of the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365761"/>
            <a:ext cx="728738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C6E"/>
                </a:solidFill>
                <a:latin typeface="Arial"/>
              </a:defRPr>
            </a:pPr>
            <a:r>
              <a:rPr sz="3200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Queue Length as a Random Variable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997803"/>
            <a:ext cx="11361682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1600" b="1">
                <a:solidFill>
                  <a:srgbClr val="1E3C6E"/>
                </a:solidFill>
                <a:latin typeface="Arial"/>
              </a:defRPr>
            </a:pPr>
            <a:r>
              <a:rPr dirty="0"/>
              <a:t>Define: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• N = number of packets in the system (waiting + service)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• Nq = number of packets waiting in the queue only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λ</a:t>
            </a:r>
            <a:r>
              <a:rPr dirty="0"/>
              <a:t> = arrival rate, </a:t>
            </a:r>
            <a:r>
              <a:rPr dirty="0" err="1"/>
              <a:t>μ</a:t>
            </a:r>
            <a:r>
              <a:rPr dirty="0"/>
              <a:t> = service rate, </a:t>
            </a:r>
            <a:r>
              <a:rPr dirty="0" err="1"/>
              <a:t>ρ</a:t>
            </a:r>
            <a:r>
              <a:rPr dirty="0"/>
              <a:t> = </a:t>
            </a:r>
            <a:r>
              <a:rPr dirty="0" err="1"/>
              <a:t>λ</a:t>
            </a:r>
            <a:r>
              <a:rPr dirty="0"/>
              <a:t> / </a:t>
            </a:r>
            <a:r>
              <a:rPr dirty="0" err="1"/>
              <a:t>μ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2895600" y="3200400"/>
            <a:ext cx="6400800" cy="146304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C6E"/>
                </a:solidFill>
                <a:latin typeface="Arial"/>
              </a:defRPr>
            </a:pPr>
            <a:r>
              <a:rPr sz="1400" dirty="0"/>
              <a:t>Mean Number in System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rPr sz="2400" dirty="0"/>
              <a:t>E[N] = </a:t>
            </a:r>
            <a:r>
              <a:rPr sz="2400" dirty="0" err="1"/>
              <a:t>ρ</a:t>
            </a:r>
            <a:r>
              <a:rPr sz="2400" dirty="0"/>
              <a:t> / (1 - </a:t>
            </a:r>
            <a:r>
              <a:rPr sz="2400" dirty="0" err="1"/>
              <a:t>ρ</a:t>
            </a:r>
            <a:r>
              <a:rPr sz="2400" dirty="0"/>
              <a:t>)</a:t>
            </a: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rPr sz="1200" dirty="0"/>
              <a:t>Average total packets inside the router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895600" y="5029200"/>
            <a:ext cx="6400800" cy="146304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C6E"/>
                </a:solidFill>
                <a:latin typeface="Arial"/>
              </a:defRPr>
            </a:pPr>
            <a:r>
              <a:rPr sz="1400"/>
              <a:t>Mean Number Waiting in Queue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rPr sz="2400"/>
              <a:t>E[Nq] = ρ² / (1 - ρ)</a:t>
            </a: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rPr sz="1200"/>
              <a:t>Average packets waiting before service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0972800" cy="914400"/>
          </a:xfrm>
        </p:spPr>
        <p:txBody>
          <a:bodyPr/>
          <a:lstStyle/>
          <a:p>
            <a:pPr>
              <a:defRPr sz="3600" b="1">
                <a:solidFill>
                  <a:srgbClr val="1F4E79"/>
                </a:solidFill>
                <a:latin typeface="Segoe UI"/>
              </a:defRPr>
            </a:pPr>
            <a:r>
              <a:rPr dirty="0"/>
              <a:t>Mathematical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0121" y="1354170"/>
            <a:ext cx="10374416" cy="4375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Modeled as an M/M/1 Queue: Markovian arrivals (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Markovian service (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single server.</a:t>
            </a:r>
          </a:p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Little's Theorem: E[N] = 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E[D] </a:t>
            </a:r>
            <a:r>
              <a:rPr lang="en-IN" dirty="0"/>
              <a:t>(Queue length is directly proportional to expected delay).</a:t>
            </a:r>
          </a:p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Delay: E[D] = 1 / (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Demonstrates non-linear growth as traffic intensity (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approaches 1.</a:t>
            </a:r>
          </a:p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Chernoff Bound: P(D ≥ t) ≤ e^(-(μ - λ)t), providing tight, exponentially decaying bounds on tail risk.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24200" y="447824"/>
            <a:ext cx="512185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C6E"/>
                </a:solidFill>
                <a:latin typeface="Arial"/>
              </a:defRPr>
            </a:pPr>
            <a:r>
              <a:rPr sz="3600" dirty="0">
                <a:latin typeface="Segoe UI" panose="020B0502040204020203" pitchFamily="34" charset="0"/>
                <a:cs typeface="Segoe UI" panose="020B0502040204020203" pitchFamily="34" charset="0"/>
              </a:rPr>
              <a:t>Comparison of Bounds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1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 b="1">
                <a:solidFill>
                  <a:srgbClr val="1E3C6E"/>
                </a:solidFill>
                <a:latin typeface="Arial"/>
              </a:defRPr>
            </a:pPr>
            <a:r>
              <a:t>Markov vs Chernoff vs Exact 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2895600" y="1737360"/>
            <a:ext cx="6400800" cy="109728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C6E"/>
                </a:solidFill>
                <a:latin typeface="Arial"/>
              </a:defRPr>
            </a:pPr>
            <a:r>
              <a:rPr sz="1400" dirty="0"/>
              <a:t>1. Exact Tail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rPr sz="2400" dirty="0"/>
              <a:t>P(D &gt; t) = e^(-(</a:t>
            </a:r>
            <a:r>
              <a:rPr sz="2400" dirty="0" err="1"/>
              <a:t>μ</a:t>
            </a:r>
            <a:r>
              <a:rPr sz="2400" dirty="0"/>
              <a:t> - </a:t>
            </a:r>
            <a:r>
              <a:rPr sz="2400" dirty="0" err="1"/>
              <a:t>λ</a:t>
            </a:r>
            <a:r>
              <a:rPr sz="2400" dirty="0"/>
              <a:t>)t)</a:t>
            </a: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rPr lang="en-IN" sz="1200" dirty="0"/>
              <a:t>Matches exponential </a:t>
            </a:r>
            <a:r>
              <a:rPr lang="en-IN" sz="1200" dirty="0" err="1"/>
              <a:t>behavior</a:t>
            </a:r>
            <a:r>
              <a:rPr lang="en-IN" sz="1200" dirty="0"/>
              <a:t> perfectly</a:t>
            </a:r>
            <a:endParaRPr sz="1200" dirty="0"/>
          </a:p>
        </p:txBody>
      </p:sp>
      <p:sp>
        <p:nvSpPr>
          <p:cNvPr id="5" name="Rectangle 4"/>
          <p:cNvSpPr/>
          <p:nvPr/>
        </p:nvSpPr>
        <p:spPr>
          <a:xfrm>
            <a:off x="2895600" y="2926080"/>
            <a:ext cx="6400800" cy="109728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C6E"/>
                </a:solidFill>
                <a:latin typeface="Arial"/>
              </a:defRPr>
            </a:pPr>
            <a:r>
              <a:rPr sz="1400" dirty="0"/>
              <a:t>2. Markov Bound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rPr sz="2400" dirty="0"/>
              <a:t>P(D ≥ t) ≤ E[D] / t</a:t>
            </a: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rPr sz="1200" dirty="0"/>
              <a:t>Very loose (decays linearly as 1/t)</a:t>
            </a:r>
          </a:p>
        </p:txBody>
      </p:sp>
      <p:sp>
        <p:nvSpPr>
          <p:cNvPr id="6" name="Rectangle 5"/>
          <p:cNvSpPr/>
          <p:nvPr/>
        </p:nvSpPr>
        <p:spPr>
          <a:xfrm>
            <a:off x="2895600" y="4206240"/>
            <a:ext cx="6400800" cy="1097280"/>
          </a:xfrm>
          <a:prstGeom prst="rect">
            <a:avLst/>
          </a:prstGeom>
          <a:solidFill>
            <a:srgbClr val="F0F5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C6E"/>
                </a:solidFill>
                <a:latin typeface="Arial"/>
              </a:defRPr>
            </a:pPr>
            <a:r>
              <a:rPr sz="1400"/>
              <a:t>3. Chernoff Bound</a:t>
            </a:r>
          </a:p>
          <a:p>
            <a:pPr algn="ctr">
              <a:spcBef>
                <a:spcPts val="400"/>
              </a:spcBef>
              <a:defRPr sz="2400" b="1">
                <a:solidFill>
                  <a:srgbClr val="0070C0"/>
                </a:solidFill>
                <a:latin typeface="Arial"/>
              </a:defRPr>
            </a:pPr>
            <a:r>
              <a:rPr sz="2400"/>
              <a:t>P(D ≥ t) ≤ e^(-(μ - λ)t)</a:t>
            </a:r>
          </a:p>
          <a:p>
            <a:pPr algn="ctr">
              <a:spcBef>
                <a:spcPts val="400"/>
              </a:spcBef>
              <a:defRPr sz="1200" i="1">
                <a:solidFill>
                  <a:srgbClr val="3C3C3C"/>
                </a:solidFill>
                <a:latin typeface="Arial"/>
              </a:defRPr>
            </a:pPr>
            <a:r>
              <a:rPr sz="1200"/>
              <a:t>Much tighter (Matches the exact exponential decay)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1200" y="5669281"/>
            <a:ext cx="82296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600"/>
              </a:spcAft>
              <a:defRPr sz="1600" b="1">
                <a:solidFill>
                  <a:srgbClr val="1E3C6E"/>
                </a:solidFill>
                <a:latin typeface="Arial"/>
              </a:defRPr>
            </a:pPr>
            <a:r>
              <a:rPr sz="1600" dirty="0"/>
              <a:t>Conclusion: Chernoff is significantly tighter than Markov for Queueing Delay.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D96B20-E04A-55A8-3140-8A6DE8B32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76000"/>
            <a:ext cx="7772400" cy="450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25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0972800" cy="914400"/>
          </a:xfrm>
        </p:spPr>
        <p:txBody>
          <a:bodyPr/>
          <a:lstStyle/>
          <a:p>
            <a:pPr>
              <a:defRPr sz="3600" b="1">
                <a:solidFill>
                  <a:srgbClr val="1F4E79"/>
                </a:solidFill>
                <a:latin typeface="Segoe UI"/>
              </a:defRPr>
            </a:pPr>
            <a:r>
              <a:rPr dirty="0"/>
              <a:t>Deterministic Approach (FCFS)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43870" cy="4503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Baseline Strategy: First-Come, First-Served (FCFS).</a:t>
            </a:r>
          </a:p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Mathematical Engine: Lindley's Recursion -&gt;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W_n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max(0, W_{n-1} + S_{n-1} -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A_n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assive rule: The router accepts all packets infinitely.</a:t>
            </a:r>
          </a:p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Critical Failure - Buffer Bloat: Stochastic traffic bursts lead to infinite queue growth and severe latency spikes.</a:t>
            </a:r>
          </a:p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Global Synchronization: Dropping packets deterministically when a buffer is full crashes network throughput.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3420F5-1133-39E2-90CD-BF71731FCB40}"/>
              </a:ext>
            </a:extLst>
          </p:cNvPr>
          <p:cNvSpPr txBox="1"/>
          <p:nvPr/>
        </p:nvSpPr>
        <p:spPr>
          <a:xfrm>
            <a:off x="5901071" y="1329070"/>
            <a:ext cx="583373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Lindley's Recursion: </a:t>
            </a:r>
          </a:p>
          <a:p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W_n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max(0, W_{n-1} + S_{n-1} -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A_n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start_service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np.zeros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(N)</a:t>
            </a:r>
          </a:p>
          <a:p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finish_service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np.zeros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(N)</a:t>
            </a:r>
          </a:p>
          <a:p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range(N):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== 0: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start_service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arrival_times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# Packet waits if router is busy 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start_service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max(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arrival_times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finish_service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[i-1])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finish_service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start_service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+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service_times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delay_fcfs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finish_service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arrival_times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C2C26-A093-AD8A-2A6E-92BB6E77B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1398" y="258689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Simulation results(Plots)</a:t>
            </a:r>
          </a:p>
        </p:txBody>
      </p:sp>
      <p:pic>
        <p:nvPicPr>
          <p:cNvPr id="3" name="Picture 2" descr="The diagram depicts a distribution of total delays in seconds for the first 200 packets, with the delay values ranging from 0 to 4.0 seconds.&#10;&#10;AI-generated content may be incorrect.">
            <a:extLst>
              <a:ext uri="{FF2B5EF4-FFF2-40B4-BE49-F238E27FC236}">
                <a16:creationId xmlns:a16="http://schemas.microsoft.com/office/drawing/2014/main" id="{36BF514B-7DDD-4A5A-6C55-58C1708F7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07" y="1512920"/>
            <a:ext cx="5693735" cy="3338622"/>
          </a:xfrm>
          <a:prstGeom prst="rect">
            <a:avLst/>
          </a:prstGeom>
        </p:spPr>
      </p:pic>
      <p:pic>
        <p:nvPicPr>
          <p:cNvPr id="4" name="Picture 3" descr="The image depicts a simulation showing the number of packets waiting in a queue over time, indicating how the queue length fluctuates.&#10;&#10;AI-generated content may be incorrect.">
            <a:extLst>
              <a:ext uri="{FF2B5EF4-FFF2-40B4-BE49-F238E27FC236}">
                <a16:creationId xmlns:a16="http://schemas.microsoft.com/office/drawing/2014/main" id="{20C44B11-7BC7-CC7B-1503-180763806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3214" y="3429000"/>
            <a:ext cx="5957093" cy="333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37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0972800" cy="914400"/>
          </a:xfrm>
        </p:spPr>
        <p:txBody>
          <a:bodyPr/>
          <a:lstStyle/>
          <a:p>
            <a:pPr>
              <a:defRPr sz="3600" b="1">
                <a:solidFill>
                  <a:srgbClr val="1F4E79"/>
                </a:solidFill>
                <a:latin typeface="Segoe UI"/>
              </a:defRPr>
            </a:pPr>
            <a:r>
              <a:rPr dirty="0"/>
              <a:t>Coding and Simulation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298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the baseline FCFS: 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>
                <a:solidFill>
                  <a:srgbClr val="505050"/>
                </a:solidFill>
                <a:latin typeface="Segoe UI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packets in the system spikes wildly. This is because random traffic arrives in large bursts, causing sudden traffic jams in the router.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simulation proves that First-Come, First-Served is a very weak strategy when traffic is heavy.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6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 1: It cannot adapt. When a huge burst of traffic hits, the router just blindly puts them in a line, leading to massive delays.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6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 2: Because we assume the queue can hold infinite packets, the delay just keeps growing longer and longer during a traffic jam.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>
                <a:solidFill>
                  <a:srgbClr val="505050"/>
                </a:solidFill>
                <a:latin typeface="Segoe UI"/>
              </a:defRPr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>
                <a:solidFill>
                  <a:srgbClr val="505050"/>
                </a:solidFill>
                <a:latin typeface="Segoe UI"/>
              </a:defRPr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endParaRPr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0972800" cy="914400"/>
          </a:xfrm>
        </p:spPr>
        <p:txBody>
          <a:bodyPr/>
          <a:lstStyle/>
          <a:p>
            <a:pPr>
              <a:defRPr sz="3600" b="1">
                <a:solidFill>
                  <a:srgbClr val="1F4E79"/>
                </a:solidFill>
                <a:latin typeface="Segoe UI"/>
              </a:defRPr>
            </a:pPr>
            <a:r>
              <a:t>Randomized Approach (RED)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7734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Random Early Detection (RED) introduces internal algorithmic randomness to combat external traffic randomness.</a:t>
            </a:r>
          </a:p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Tracks the Exponentially Weighted Moving Average (EWMA) of the queue length.</a:t>
            </a:r>
          </a:p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If EWMA falls between 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min_th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max_th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RED calculates a linearly scaling drop probability (p).</a:t>
            </a:r>
          </a:p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Uses a Uniform(0,1) random sample to execute probabilistic packet drops.</a:t>
            </a:r>
          </a:p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Prevents network-wide synchronization by randomly dispersing congestion signals.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07FDFD-4644-9321-FE01-C3BBFA81CD07}"/>
              </a:ext>
            </a:extLst>
          </p:cNvPr>
          <p:cNvSpPr txBox="1"/>
          <p:nvPr/>
        </p:nvSpPr>
        <p:spPr>
          <a:xfrm>
            <a:off x="6432698" y="1461977"/>
            <a:ext cx="564588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RED Parameters</a:t>
            </a:r>
          </a:p>
          <a:p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min_th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max_th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2.0, 10.0</a:t>
            </a:r>
          </a:p>
          <a:p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max_p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0.1</a:t>
            </a:r>
          </a:p>
          <a:p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avg_L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 # Exponentially Weighted Moving Average </a:t>
            </a:r>
          </a:p>
          <a:p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w_q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0.002 </a:t>
            </a:r>
          </a:p>
          <a:p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Randomized Drop Logic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avg_L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max_th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p_drop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1.0 # Forced drop </a:t>
            </a:r>
          </a:p>
          <a:p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avg_L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min_th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p_drop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max_p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(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avg_L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min_th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/ (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max_th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min_th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Use Uniform(0,1) to decide drop 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np.random.rand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&lt;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p_drop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packet_dropped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True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0972800" cy="914400"/>
          </a:xfrm>
        </p:spPr>
        <p:txBody>
          <a:bodyPr/>
          <a:lstStyle/>
          <a:p>
            <a:pPr>
              <a:defRPr sz="3600" b="1">
                <a:solidFill>
                  <a:srgbClr val="1F4E79"/>
                </a:solidFill>
                <a:latin typeface="Segoe UI"/>
              </a:defRPr>
            </a:pPr>
            <a:r>
              <a:t>Results: Stabilizing System Variables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dirty="0"/>
              <a:t>•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 vs. Theoretical: Simulated FCFS exactly matched theoretical expected delay.</a:t>
            </a:r>
          </a:p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FCFS suffered from massive Buffer Bloat during stochastic bursts.</a:t>
            </a:r>
          </a:p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 stabilized internal dynamics, capping queue growth safely.</a:t>
            </a:r>
          </a:p>
        </p:txBody>
      </p:sp>
      <p:pic>
        <p:nvPicPr>
          <p:cNvPr id="8" name="Picture 7" descr="The diagram illustrates the comparison of queue lengths for First-Come, First-Served (FCFS) and Reduced-Echo (RED) scheduling algorithms, showing FCFS experiencing buffer bloat, while RED maintains a more controlled queue length.&#10;&#10;AI-generated content may be incorrect.">
            <a:extLst>
              <a:ext uri="{FF2B5EF4-FFF2-40B4-BE49-F238E27FC236}">
                <a16:creationId xmlns:a16="http://schemas.microsoft.com/office/drawing/2014/main" id="{04CF20C9-A8FD-36D7-2CEB-3E41CB750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35" y="3059468"/>
            <a:ext cx="6133391" cy="3631133"/>
          </a:xfrm>
          <a:prstGeom prst="rect">
            <a:avLst/>
          </a:prstGeom>
        </p:spPr>
      </p:pic>
      <p:pic>
        <p:nvPicPr>
          <p:cNvPr id="10" name="Picture 9" descr="The graph shows the total delay per packet for the first 400 packets, with RED and FCFS delay patterns and a steady increase in delay over time.&#10;&#10;AI-generated content may be incorrect.">
            <a:extLst>
              <a:ext uri="{FF2B5EF4-FFF2-40B4-BE49-F238E27FC236}">
                <a16:creationId xmlns:a16="http://schemas.microsoft.com/office/drawing/2014/main" id="{581EA9B9-3CA4-D522-D5F2-50E259716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497" y="3014330"/>
            <a:ext cx="5655368" cy="367627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0972800" cy="914400"/>
          </a:xfrm>
        </p:spPr>
        <p:txBody>
          <a:bodyPr/>
          <a:lstStyle/>
          <a:p>
            <a:pPr>
              <a:defRPr sz="3600" b="1">
                <a:solidFill>
                  <a:srgbClr val="1F4E79"/>
                </a:solidFill>
                <a:latin typeface="Segoe UI"/>
              </a:defRPr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Results: Elimination of Latency 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749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dirty="0"/>
              <a:t>•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extreme latency tail probabilities P(D&gt;t) were completely flattened by the algorithm.</a:t>
            </a:r>
          </a:p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Optimization Cost: Negligible 1.32% packet drop rate for massive latency improvements</a:t>
            </a:r>
            <a:r>
              <a:rPr dirty="0"/>
              <a:t>.</a:t>
            </a:r>
          </a:p>
        </p:txBody>
      </p:sp>
      <p:pic>
        <p:nvPicPr>
          <p:cNvPr id="9" name="Picture 8" descr="The diagram shows a comparison of delay tail probabilities for FCFS (First-Come, First-Served) baseline and a Reduced Algorithm, indicating that the latter has a higher performance gain and lower probability of exceeding the delay threshold over time.&#10;&#10;AI-generated content may be incorrect.">
            <a:extLst>
              <a:ext uri="{FF2B5EF4-FFF2-40B4-BE49-F238E27FC236}">
                <a16:creationId xmlns:a16="http://schemas.microsoft.com/office/drawing/2014/main" id="{2854AF2D-3714-95AD-CBF5-273666380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066" y="3138868"/>
            <a:ext cx="8029561" cy="361812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0972800" cy="914400"/>
          </a:xfrm>
        </p:spPr>
        <p:txBody>
          <a:bodyPr/>
          <a:lstStyle/>
          <a:p>
            <a:pPr>
              <a:defRPr sz="3600" b="1">
                <a:solidFill>
                  <a:srgbClr val="1F4E79"/>
                </a:solidFill>
                <a:latin typeface="Segoe UI"/>
              </a:defRPr>
            </a:pPr>
            <a:r>
              <a:rPr dirty="0"/>
              <a:t>Inference – Domain Perspective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of Service (QoS): A 1.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drop in throughput yields exponential improvements in latency stability.</a:t>
            </a:r>
          </a:p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Deterministic rules fail in stochastic environments because they lack proactive state management.</a:t>
            </a:r>
          </a:p>
          <a:p>
            <a:pPr>
              <a:spcAft>
                <a:spcPts val="14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Controlled probabilistic dropping acts as a proactive shock absorber, preserving overall network integrity.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0972800" cy="914400"/>
          </a:xfrm>
        </p:spPr>
        <p:txBody>
          <a:bodyPr/>
          <a:lstStyle/>
          <a:p>
            <a:pPr>
              <a:defRPr sz="3600" b="1">
                <a:solidFill>
                  <a:srgbClr val="1F4E79"/>
                </a:solidFill>
                <a:latin typeface="Segoe UI"/>
              </a:defRPr>
            </a:pPr>
            <a:r>
              <a:t>Inference – Computer Science Perspective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A742336-6EBB-2D11-90E7-CD2363BA9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63" y="1666920"/>
            <a:ext cx="1130653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Power of Randomized Algorithms: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strict, predictable rule (like FCFS) breaks when the real world acts unpredictably. Adding a little bit of controlled randomness to an algorithm actually makes it stronger and more adaptable.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Data Structures: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basic Queue (FIFO) is not enough for real-world systems. If we don't put an intelligent "gatekeeper" in front of our queues, sudden data bursts will cause memory overflow and system crashes.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Ultimate CS Trade-off: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computing, we often trade one resource for another. By sacrificing a tiny fraction of data (dropping ~1.32% of packets), we bought a massive improvement in system speed and reliability.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0972800" cy="914400"/>
          </a:xfrm>
        </p:spPr>
        <p:txBody>
          <a:bodyPr/>
          <a:lstStyle/>
          <a:p>
            <a:pPr>
              <a:defRPr sz="3600" b="1">
                <a:solidFill>
                  <a:srgbClr val="1F4E79"/>
                </a:solidFill>
                <a:latin typeface="Segoe UI"/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94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>
                <a:solidFill>
                  <a:srgbClr val="505050"/>
                </a:solidFill>
                <a:latin typeface="Segoe UI"/>
              </a:defRPr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https://web.mit.edu/dimitrib/www/Queueing_Data_Nets.pdf 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>
                <a:solidFill>
                  <a:srgbClr val="505050"/>
                </a:solidFill>
                <a:latin typeface="Segoe UI"/>
              </a:defRP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Course in Probability, Sheldon Ross, A. Pearson Higher Ed, Year: 2019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1895</Words>
  <Application>Microsoft Office PowerPoint</Application>
  <PresentationFormat>Widescreen</PresentationFormat>
  <Paragraphs>169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Segoe UI</vt:lpstr>
      <vt:lpstr>Times New Roman</vt:lpstr>
      <vt:lpstr>Office Theme</vt:lpstr>
      <vt:lpstr>Probabilistic Modelling and Performance Analysis of Packet Delay in a single router Network</vt:lpstr>
      <vt:lpstr>Problem Formulation</vt:lpstr>
      <vt:lpstr>PowerPoint Presentation</vt:lpstr>
      <vt:lpstr>Base Paper overview -1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Mathematical Model</vt:lpstr>
      <vt:lpstr>PowerPoint Presentation</vt:lpstr>
      <vt:lpstr>PowerPoint Presentation</vt:lpstr>
      <vt:lpstr>Deterministic Approach (FCFS)</vt:lpstr>
      <vt:lpstr>Simulation results(Plots)</vt:lpstr>
      <vt:lpstr>Coding and Simulation Pipeline</vt:lpstr>
      <vt:lpstr>Randomized Approach (RED)</vt:lpstr>
      <vt:lpstr>Results: Stabilizing System Variables</vt:lpstr>
      <vt:lpstr>Results: Elimination of Latency Tails</vt:lpstr>
      <vt:lpstr>Inference – Domain Perspective</vt:lpstr>
      <vt:lpstr>Inference – Computer Science Perspective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Khushi Paghdar</dc:creator>
  <cp:keywords/>
  <dc:description>generated using python-pptx</dc:description>
  <cp:lastModifiedBy>Khushi Paghdar</cp:lastModifiedBy>
  <cp:revision>17</cp:revision>
  <dcterms:created xsi:type="dcterms:W3CDTF">2013-01-27T09:14:16Z</dcterms:created>
  <dcterms:modified xsi:type="dcterms:W3CDTF">2026-04-07T11:51:50Z</dcterms:modified>
  <cp:category/>
</cp:coreProperties>
</file>